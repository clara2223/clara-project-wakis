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4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3" r:id="rId2"/>
    <p:sldId id="338" r:id="rId3"/>
    <p:sldId id="349" r:id="rId4"/>
    <p:sldId id="342" r:id="rId5"/>
    <p:sldId id="348" r:id="rId6"/>
    <p:sldId id="350" r:id="rId7"/>
    <p:sldId id="353" r:id="rId8"/>
    <p:sldId id="347" r:id="rId9"/>
    <p:sldId id="343" r:id="rId10"/>
    <p:sldId id="344" r:id="rId11"/>
    <p:sldId id="352" r:id="rId12"/>
    <p:sldId id="345" r:id="rId13"/>
    <p:sldId id="351" r:id="rId14"/>
    <p:sldId id="316" r:id="rId15"/>
    <p:sldId id="314" r:id="rId16"/>
    <p:sldId id="341" r:id="rId17"/>
    <p:sldId id="305" r:id="rId18"/>
    <p:sldId id="312" r:id="rId19"/>
    <p:sldId id="304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Godinho" initials="AG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BFF"/>
    <a:srgbClr val="71EE77"/>
    <a:srgbClr val="B0FF63"/>
    <a:srgbClr val="0099FF"/>
    <a:srgbClr val="72FF75"/>
    <a:srgbClr val="DDFEE2"/>
    <a:srgbClr val="00FA35"/>
    <a:srgbClr val="2F2F2F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1"/>
    <p:restoredTop sz="88203"/>
  </p:normalViewPr>
  <p:slideViewPr>
    <p:cSldViewPr snapToObjects="1">
      <p:cViewPr varScale="1">
        <p:scale>
          <a:sx n="111" d="100"/>
          <a:sy n="111" d="100"/>
        </p:scale>
        <p:origin x="520" y="200"/>
      </p:cViewPr>
      <p:guideLst>
        <p:guide orient="horz" pos="432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145" d="100"/>
          <a:sy n="145" d="100"/>
        </p:scale>
        <p:origin x="38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B0CAB-A528-CD45-8F12-922B94DEC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AD8C8-453F-104C-B81F-526301CF40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72EAA-2733-D14F-950A-8F424038586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BBD38-63DF-604F-9396-6BB8561251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8731-E0D0-B242-9967-4E9E135D8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9750F-00B8-E148-9878-D197EE9CB8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0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25:51.215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2095 24575,'0'-20'0,"0"-6"0,0-15 0,0-7 0,5-6 0,7-5 0,15-4 0,17-7 0,14-4 0,-23 35 0,2 0 0,0 2 0,1 0 0,3-1 0,1-1 0,0 1 0,1 0 0,1-1 0,2 0 0,5 0 0,2-1 0,2 0 0,2 0 0,11-4 0,4 0 0,5 0 0,2 0 0,7-3 0,3 1-182,-26 16 1,0 0 0,1 1 181,1 0 0,0 1 0,1 0 0,5-1 0,1 0 0,1 1 0,3 0 0,1 0 0,2 1 0,5-1 0,1 1 0,1 0 0,1 1 0,1 0 0,-1 2-363,2 0 1,-1 2 0,1 0 362,-3 1 0,0 1 0,-1 0 0,-4 1 0,0 0 0,0 2 0,-1 1 0,1 1 0,-1 0 0,-2 2 0,0 0 0,1 2 0,0 1 0,2 1 0,0 1 0,-1 1 0,1 1 0,0 1 0,-1 1 0,0 0 0,-1 1-115,-4 1 0,0 0 0,-1 1 115,-6 1 0,-1 0 0,-1 0 0,27 0 0,-1 0 0,-4 2 0,-1 3 0,1 1 0,0 4 0,2 2 0,-1 3 0,2 3 0,-1 1 0,-5-1 0,-1 2 0,-6 0 0,-2 0 0,-6 0 0,-2 1 252,-4-1 1,-1 0-253,-3 0 0,-1-1 548,1-1 0,-1 0-548,0 0 0,0-1 187,2 1 1,-1-1-188,1 3 0,-1 0 0,1 1 0,-1 1 0,1 2 0,0 1 0,-1 0 0,0 2 0,-1-1 0,0 1 0,-2-1 0,-2 1 0,-3 1 0,-1 1 0,-2 1 0,0 0 0,2 2 0,0 1 0,1 1 0,0 0 0,1 1 0,1-1 0,-4-1 0,-1-1 0,-5-4 0,0-1 0,33 18 0,-8-6 0,-6-4 0,-10 0 0,-8-2 0,-9-7 0,-5-5 0,-3-3 0,-1-4 0,-3 0 0,-2 1 0,-5-3 0,-4-3 0,-5-10 0,-4-8 0,-3-9 0,-1-20 0,0-49 0,5 14 0,4-7 0,2-11 0,1-1 0,2 2 0,1 5 0,-2 20 0,-1 6 0,2-9 0,-7 22 0,-3 15 0,-1 8 0,-2 8 0,3 5 0,-1 2 0,0 9 0,-2 13 0,-1 20 0,0 20 0,0 17 0,-6 9 0,-6 12 0,3-43 0,-2 0 0,-1 1 0,0-1 0,-1 1 0,0-2 0,-12 41 0,4-7 0,1-9 0,4-10 0,1-9 0,0-6 0,3-8 0,0-1 0,6-16 0,-2-1 0,2-14 0,-1-2 0,1-7 0,3-4 0,3-3 0,-2-2 0,-2 0 0,-7-1 0,-12 0 0,-24-6 0,-37-3 0,21 8 0,-5 1 0,-18-1 0,-6 1 0,21 4 0,-1 2 0,-2 0-196,-4 1 0,0 0 0,-1 2 196,2 0 0,1 0 0,1 1 0,5 1 0,3 0 0,2 0 0,-14 1 0,6-2 0,13 1 0,7 0 0,-1 0 0,21 0 0,30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25:56.548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1 24575,'34'8'0,"23"12"0,-12 1 0,5 4 0,13 8 0,2 5 0,6 4 0,3 4 0,-14-9 0,3 2 0,1 0-391,4 1 0,1 0 0,1 0 391,5 3 0,1 0 0,1 0 0,5 1 0,2-1 0,-1-1 0,-4-3 0,1-2 0,-1 0 0,-1 0 0,1-2 0,-1 0 0,-4-4 0,0 0 0,-1-1 0,-1-1 0,-1 0 0,0-1 0,-1-1 0,0 0 0,0-1 0,-1-1 0,1 0 0,-1-1-35,1 0 0,-1-2 1,-1 1 34,-1-2 0,0 0 0,0-1 0,0 0 0,0 0 0,0 0 0,0-1 0,-1 1 0,2-1 0,5 1 0,2 1 0,1-1-306,4 0 0,2-1 1,1 0 305,2 1 0,1-1 0,1 1 0,9 0 0,1 1 0,0 0-347,-22-7 0,0 1 1,0-1-1,1 0 347,0 2 0,2-1 0,-1 1 0,1-1 0,4 1 0,1-1 0,-1-1 0,0 0 0,-5-2 0,0 0 0,-1-1 0,0 1 0,23 2 0,-1 1 0,-1-2 0,-4-3 1,-1 0 0,-2-2-1,-8-1 0,-2 0 0,-1-1 0,-5 0 0,0 1 0,-2-2 84,28 1 0,-1-2-84,-5 0 0,0 0 0,-2-2 0,-1 0 0,-2-1 0,0 1 0,-3 0 0,-1 0 0,-2 1 0,-1-1 428,-5 0 0,-1 0-428,-4-1 0,-1 0 735,-7-1 1,-1 0-736,-5 0 0,-1 0 437,0-1 1,-1 2-438,1 0 0,0 2 104,4-1 1,0 1-105,4 2 0,1 0 0,3 1 0,0 1 0,1-2 0,0 1 0,-2 1 0,-2 0 0,-4 0 0,-3-1 0,-6 1 0,-2-1 0,37 5 0,-14-1 0,-14-2 0,-10-1 0,-9 1 0,-7-1 0,2 0 0,-4-3 0,1 2 0,4-3 0,0 4 0,5 0 0,-2-2 0,-5 1 0,-4-2 0,-8-1 0,-10-1 0,-18-5 0,-18-11 0,-19-20 0,-12-23 0,-11-17 0,32 35 0,0 0 0,-27-26 0,13 17 0,10 14 0,16 16 0,0 1 0,11 10 0,1 0 0,6 4 0,6 2 0,7 8 0,7 7 0,1 8 0,4 6 0,2 0 0,1 2 0,4 4 0,4 9 0,6 6 0,8 3 0,2-1 0,0-8 0,-3-6 0,-5-4 0,-5-7 0,2-2 0,-18-9 0,5-2 0,-14-6 0,2 0 0,-2 0 0,-1-1 0,-7-2 0,-4-2 0,-6-1 0,-6 5 0,-5 8 0,-5 7 0,-4 5 0,-5 3 0,-1-1 0,-2-2 0,2-3 0,6-5 0,4-6 0,7-1 0,2-4 0,1 0 0,0 0 0,-1-3 0,4 2 0,-3-3 0,6 1 0,-2-1 0,5-3 0,2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07:44.154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3397 1 24575,'-48'0'0,"-20"0"0,-28 0 0,36 0 0,-1 0 0,0 0 0,0 0 0,-5 0 0,-1 0 0,-2 0 0,1 0 0,-1 0 0,0 0 0,-4 0 0,1 0 0,3 0 0,1 0 0,1 0 0,0 0 0,-1 0 0,0 0 0,0 0 0,0 0 0,0 0 0,0 0 0,-1 0 0,1 0 0,2-1 0,0 2 0,3-1 0,1 1 0,3 1 0,2 1 0,4 0 0,1 3 0,-47 8 0,6 2 0,4 3 0,1 1 0,2-1 0,0 2 0,4-1 0,5 1 0,7 2 0,8 0 0,7-1 0,9 0 0,7 2 0,7 5 0,4 7 0,4 10 0,5 8 0,7 11 0,5 6 0,7 1 0,14-1 0,23-9 0,27-11 0,26-12 0,-36-22 0,3-3 0,6-3 0,3-2 0,2-2 0,1-1 0,2-3 0,0-1 0,-1-2 0,0 0 0,-4 0 0,0 0 0,-1 0 0,-1 0 0,-1 0 0,-1-2 0,-3 0 0,-2-2 0,-1-1 0,0-1 0,-4-2 0,0 1 0,-1-2 0,-1 1 0,0 1 0,0-1 0,1 2 0,-1-1 0,47-6 0,-1 0 0,-3 0 0,-5 2 0,0-1 0,-6 3 0,-1 3 0,-4 0 0,-4 3 0,-2 0 0,-2-1 0,0 1 0,1-2 0,-3-1 0,-2 3 0,-5-2 0,-7 2 0,-5 0 0,-8-2 0,-2-3 0,4-5 0,-17 0 0,10-13 0,-8-6 0,8-16 0,1-8 0,-7-2 0,-9 2 0,-8 4 0,-5 6 0,-5 6 0,-5 5 0,-4 7 0,-10-3 0,-12 1 0,-7-2 0,-4 1 0,4 6 0,6 6 0,7 7 0,8 6 0,5 4 0,4 2 0,4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08:10.337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0 0 24575,'49'0'0,"9"0"0,16 0 0,9 0 0,-3 0 0,5 0 0,-34 0 0,21 0 0,-16 5 0,18 5 0,0 6 0,-8 6 0,-10 0 0,-6-3 0,-4 0 0,-4-1 0,-3-2 0,-5 2 0,-5-1 0,-4 0 0,-3 2 0,0 0 0,-3 0 0,0 0 0,-1 0 0,-1 0 0,-2 0 0,-3 0 0,-2-1 0,0-3 0,-3-3 0,0-2 0,-3-1 0,1 0 0,0-1 0,-2 1 0,3 1 0,-4-3 0,5 7 0,-3-1 0,2 1 0,0-2 0,-2-5 0,-2-8 0,0-14 0,4-16 0,5-12 0,7-6 0,3 2 0,0 5 0,-1 4 0,-2 3 0,-5 5 0,-3 4 0,-1 7 0,-1 2 0,1-2 0,0-1 0,0-2 0,3-2 0,-7 11 0,5-2 0,-9 17 0,-1 9 0,-13 17 0,-7 15 0,-8 9 0,1 3 0,2-3 0,4-7 0,6-9 0,6-10 0,3-4 0,0-2 0,4-7 0,-1 0 0,3-9 0,0 3 0,0 2 0,0 9 0,-4-9 0,-11 2 0,-18-11 0,-22-3 0,-21-1 0,-12-2 0,-1-1 0,10 4 0,17 1 0,17 2 0,16 0 0,12 0 0,7 0 0,5 0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2T09:18:42.2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2T09:19:27.10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0 292,'60'0,"29"0,-13 0,12-1,-7-1,8-1,5 0,-6-1,4 0,4 0,2 0,-8 1,2-1,2 1,2 0,1 0,-7 0,0 0,1 1,2 0,2 0,3 0,-12 1,2 0,2 0,1 0,2 1,0 0,1-1,-1 1,-3 0,0 0,1 0,1 0,0 0,0 0,1 0,0 0,-1 0,2 0,1 0,0 0,0 0,0 0,0 0,0 0,-1 0,0 0,-3 0,0 0,-1 0,1 0,-1 0,-1 0,-1 0,-1 0,-1 0,14 0,-3 0,-1 0,-1 0,0 0,-1 0,0 0,-3 0,0 0,-1 0,0 0,-1 0,0 0,1 0,-2 0,0 0,0 0,0 0,-1 0,0 0,0 0,13 0,-1-1,0 0,0 0,-1 0,-1 1,-2-1,-1 0,0 0,-1 0,-1 0,0 0,-5 0,-1 0,0 0,-1 0,-1 0,0 0,12 0,0 0,-1-1,-2 2,1-1,-6 1,-1 0,0 0,-1 0,-1 0,-3 0,-1 0,0 0,-1 0,-1 0,19 0,-2 0,0 0,0 1,-5 0,0 2,-1-1,0 1,-1 1,-1 1,1 0,-1 1,0 0,0 2,0-1,-1 1,-3 1,-1 0,-1 0,-1 0,-4 0,0 0,-2-1,-4 1,7 0,-3 0,-7 0,1 0,-10-1,10 0,-23-9,52-11,-30 4,5 1,9 0,3 1,3 1,-1 1,-8 4,-1 0,0-1,1 0,-4-2,-1-1,-5 0,-2-2,-5 0,-1-1,-4 1,-1-1,1 1,-1 0,1-1,1 1,0-1,1 0,0 0,0 0,0-1,0 0,-2-1,0 1,-1 0,1 0,-3 1,1 1,-3 1,1 1,1 2,0 0,0 0,0 1,3 0,0 0,4 1,0 0,1 0,-1 0,1 0,-1 0,-2 0,-1 0,-1 0,0 0,2 0,1 0,1 0,2 0,2 0,2 0,1 0,0 0,-1 0,0 0,-1 0,0 0,0 0,1 0,1 0,1 0,5 0,0 0,3 0,2 0,0 0,1 0,0 0,-1 0,-2 1,0-2,4 0,2-1,2-2,2-2,-1-1,0-2,1-1,-1-2,-4 0,-1-1,-5 1,0 1,-3 0,-1 1,-4 1,-2 2,-3 2,1 1,-1 1,1 1,1 0,-1 2,1 0,0 0,-2-1,-1-1,-4 0,-1 1,-3-1,-2 0,38 0,-9 2,-7 0,-1 0,9 0,8 0,-40 2,2 0,0 3,1 1,0 1,-1 0,0 1,-1 1,46 6,2-2,-48-6,1-1,2 1,2 0,4 0,1 0,0 0,2-1,0 0,1-1,-1 0,1 0,-2-1,-1-1,0 0,0 0,-1 0,0 0,-1 0,1 0,1 0,1 0,4 0,1-1,1 1,1 0,1-1,-1-1,-2 1,-2 0,-5-1,-2-1,-3 1,0-2,-2 1,-1 0,3 0,1 0,2 0,0 0,2 0,0 0,-1 0,0 0,-3 1,-2 1,-1 1,-2 0,47 7,-5 5,-6 4,-7 4,-27-9,13-1,3-16,-16-1,8-1,2-2,6-2,2 0,6-2,2-1,0 0,0 1,1-1,-1 1,-4 1,-1 1,-4 1,10 1,-4 1,-5 1,0 2,-3 1,0 0,-4 0,-1 1,1 1,-1 0,3-1,0-1,1 0,2-1,1 0,1-1,0 0,0-1,-1 1,0 1,-3-1,-2 2,-2 0,-1 1,-2 1,0 0,-5 0,1 0,-3 0,0 0,2 0,-1 0,-1 0,-1 0,0 0,-1 0,46 0,-6 0,-2 0,5 0,-43 0,0 0,4 0,1 0,3 0,0 0,2 0,1 0,1 0,1 0,0 0,1 0,3 0,1 0,3 0,1 0,-1 0,1 0,2 0,0 0,-3 0,-1 0,-2 0,0 0,-1 0,0 0,-4 0,1 0,4 0,1 0,9 0,2 0,3 0,2 0,6 0,1 0,-1 0,0 0,-2 0,-1 0,0 0,-1 0,-4 0,0 0,-2 0,-1 0,-2 0,-2 0,-1 0,-2 0,-4 0,-2 0,-5 0,-3 0,-4 0,-1 0,-4 0,-1 0,43 0,-8 0,-4 0,-5 0,1-3,0 0,-5-1,-5 0,-9 2,-10-1,-10 0,-10 2,-6 1,-5 0,-1 0,1 0,1 0,1 0,0 0,0 0,2 0,2 0,5 0,-1 0,-2 0,-2 0,-2 0,8 0,9 0,8 0,1 0,-10 0,-9 0,-2 0,-13 0,5 0,-9 0,0 0,-1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2T09:19:40.14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0 336,'82'0,"-1"0,7 0,4 0,-24 0,1 0,3 0,5 0,2 0,1 0,2 1,1-1,3 2,-8 0,3 1,2 0,0 0,1 1,2-1,0 1,-1-1,1 0,0 1,0-1,-1 0,1-1,1 0,-1 0,-3-1,14 0,-3-2,0 0,2-1,0 0,-1-1,-5-1,0 0,-3 0,-5-1,-2 1,-1 0,-4 1,-3-1,0 2,-3 0,-1 1,0 1,1-1,0 2,-1-1,1 0,-2 0,1 0,1 0,0 0,-1 0,0 0,0 0,-1 0,32-1,-1 2,-2 0,-2 1,-3 1,0 1,3 3,1 1,0 1,0 1,2-2,1-1,-1-1,0-2,-5-2,-1-1,-1-1,0 0,-3 0,0 0,0 0,1 0,0 0,0 0,-3 0,1 0,-3 1,0 1,-4 1,-1 1,-8 1,0 0,-5 2,-1-1,-5-1,0 0,-2-2,1 0,0 0,1-1,0 0,0 0,0 0,1 0,-1-1,1 1,0-1,0 0,2 1,0 0,1-1,2 1,4 0,2-1,2-1,2 0,3 0,0 0,4 0,1 0,-2 0,0 0,1 0,0 0,-1 0,-1 0,-1 0,2 0,7 0,0 0,1 0,0 0,9 0,2 0,-30 0,1 0,0 0,2 0,1 0,1 0,6 0,3 0,-1 0,-1 0,1 0,0 0,-2 0,1 0,0 0,0-1,1 1,-2-1,-1 0,-1-1,-1 1,-3 0,-1-1,-1 1,-1-1,-2 1,-1 0,27 0,-3 0,-5 1,-2 0,-4 0,-1 0,-4 0,-1 0,-1 0,0 0,1 0,1 0,1 0,1 0,-2 0,0 0,-6 0,0 1,-4 0,-1 1,-4 1,0 1,1-1,1 0,0 1,0-1,0 1,2 0,0 0,0 1,-5 0,-1 2,2 2,-3-1,15 0,-23-2,3-3,0-6,2-2,23-2,9-3,-2-1,7-2,2 0,-17 2,2 0,1 0,0 0,5 0,0 0,1 1,0 0,2 2,-1 0,0 1,-2 1,15 1,-3 2,0 1,0 0,0 1,-1 0,-2 1,-1 0,-2 0,-6 0,-2 0,-2 0,-5 0,-1 0,-1 0,-3 0,-1 0,0 0,0 0,-1 0,1 0,2 0,0 0,0 0,0 0,-1 0,0 0,-3 0,0 0,-1 0,0 0,-1 0,0 0,0 1,0-1,-1 2,29 0,0 2,2 1,0 1,-2 1,0 1,-3 0,0 0,1 0,-1 0,-4-2,-2 0,-3-3,0 1,-3-1,0 0,-2-1,-1 0,-2 1,1 1,1 0,1 2,0-1,0 0,1 0,1 0,1-1,1-1,0-1,0-1,-2-1,-1 0,-1 0,-1 0,-4 0,-1 0,-3 0,0 0,3 0,1 0,2 0,1 0,9 0,1 0,2 0,1 0,9 0,1 0,0 0,1-1,-30 0,1 0,1-1,5 1,0-1,1 0,-1 1,-1-1,3 1,9-1,2 1,2 0,-18 1,2 0,0 0,0 0,5 0,0 0,1-1,-1 1,-1-1,0 0,0 0,-3 0,15 0,-4 0,-4 0,15-1,-9 0,-27 1,-7-1,11 0,-34-1,-13 1,13 1,23-1,7-7,10-4,21-5,6-3,-23 4,2-1,1 0,4-2,2-1,-2 2,-10 2,-1 1,-1 1,-2 1,1 1,-2 0,29-5,-2 2,-6 2,0 2,2 0,1 2,-4 2,1 1,-1 3,1 1,1 0,-1 0,-6 0,0 1,4-2,1 0,2-1,1 0,2 0,1 1,1-1,0 1,-3-1,-1 0,-3 0,-1 0,-3 0,-2 1,1 0,1 1,1 1,0 0,1 2,0 0,0 0,-1 0,-3 0,-1 0,-2 0,-1 0,2 0,2 0,2 1,1-2,2 0,0-1,-2 0,0 0,-4 0,-1 0,-6 0,-3 1,-3 1,-1 0,-4 0,-1 0,-2 0,1 0,-2 0,0 0,-2 0,-1 0,-3 0,-2 0,40 2,-13 2,-10 1,-7 1,0-3,0-1,-3-2,-5 0,-8 0,-4 0,-4 0,-5 0,-4 0,-10 4,-9 1,-4 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2T09:19:47.3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149 0,'0'51,"0"1,0 1,0 2,0-2,0 0,0 3,0-1,0-2,0-2,0 40,-2-15,0-1,-4-1,1-5,0-3,3-14,1-5,1-2,0-3,0 0,0 0,0 0,0-1,0-1,0-2,0-2,-2 1,-3 3,0 0,0 2,0 3,1 0,1 1,1 2,2 1,0 4,-1 0,-1 0,-2 0,1-1,-1 2,0-3,-3-3,-3-3,2-5,0 0,2-2,0 2,0-1,1 0,-1-3,1 1,0-1,2-2,1-5,2-2,0-12,0-2,0-9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2T09:19:53.0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148 4,'0'54,"0"2,0-12,0 5,0-1,0 1,0 5,0 1,-2-1,-3-8,-1-7,0-5,1-2,0-2,0 0,0-2,0-1,0-2,-2-3,1 0,-1-3,3-1,1-2,-2 0,3 1,-1 1,0 1,1 0,-1 0,1 0,1 2,1 3,0 3,0 3,0 1,0 0,0 2,-3 1,1 0,-1 2,2 2,-2 4,0 6,0 0,-1 0,1 0,0-1,-1-1,1-1,0-5,1-1,-1 0,0-2,0 2,1 0,2 0,0 3,0 0,0-1,0-1,0-3,0-1,0 2,0 1,0 6,2 0,6 1,3-1,4-3,3 0,0 0,1-2,-2-4,0-5,-2-4,-2-3,-2-2,-3-3,-1-1,0 1,-1-2,0 0,-2-1,0-8,-1 6,-1-7,-3-41,-4 4,-4-41,0 21,1 0,3 2,2 2,2 2,1 8,0 1,0 0,0-1,0 0,2-1,3 4,0 2,0 0,0 3,-2-3,-1 0,0 0,-2 0,0 1,0 1,0 0,0 0,0-3,0 1,0-1,0-1,0 2,0-2,0 2,0 2,0 1,0-2,0-1,0-6,0-3,0 0,0-2,0 0,0 2,0 1,0 2,0 3,0-2,0 0,0-4,0-2,0 2,0 1,0 0,1 0,1-3,2-1,2-3,1-4,0-2,-1 0,-2 0,-2 0,-2 2,0 1,0 6,0 4,0 3,0 0,0 0,0 0,-4 0,-1 1,-2 2,0 6,2 3,0 5,2 2,1 4,2 3,0 0,0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22:38.95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1402 24575,'22'14'0,"2"8"0,6 11 0,3 6 0,1-2 0,1-3 0,-4-5 0,-3-3 0,-1-3 0,1-1 0,0 1 0,5 0 0,2 2 0,2-2 0,2 1 0,-3-2 0,1-2 0,2-2 0,3-3 0,8-5 0,4-3 0,3-2 0,1 1 0,-4-1 0,-1-3 0,1 1 0,-1-3 0,5 0 0,4 0 0,7-6 0,9-9 0,3-10 0,3-9 0,-8 0 0,-9 2 0,-9-2 0,-10-3 0,-1-11 0,-1-13 0,-4-8 0,-6-5 0,-6 1 0,-6 6 0,-6 1 0,-4 3 0,-6 1 0,-5-4 0,-1 3 0,-2 0 0,0 4 0,0 4 0,-6 0 0,-8 2 0,-11 2 0,-8 4 0,-3 6 0,0 3 0,0 3 0,3 0 0,2 2 0,2 5 0,0-1 0,-2 4 0,-4 1 0,-3 4 0,1 2 0,-2 0 0,-1 1 0,1-1 0,0 0 0,1 2 0,2 0 0,2 3 0,3 2 0,2-2 0,0 0 0,2-1 0,-1-3 0,0 1 0,-2-1 0,-4 2 0,-3 3 0,-2 3 0,-1 3 0,-5 0 0,-1 2 0,1 1 0,2 2 0,3 1 0,2 0 0,0 4 0,2 3 0,-1 6 0,-2 4 0,1 6 0,-1 6 0,-1 3 0,3 2 0,3 1 0,3 2 0,5 3 0,0 3 0,-2 2 0,0 4 0,-2 2 0,3 0 0,2-2 0,3-7 0,1-2 0,2-3 0,4-4 0,4 0 0,5-2 0,1 3 0,2 2 0,1 1 0,0 1 0,2-2 0,0-1 0,0-1 0,0-4 0,0-4 0,0-1 0,0-2 0,0-1 0,0 0 0,0-3 0,0 0 0,0 0 0,0 0 0,0 3 0,0-9 0,0 3 0,0-10 0,0 2 0,0 0 0,0 1 0,0 1 0,0 2 0,0 2 0,0-1 0,0 1 0,0 2 0,0 1 0,2 2 0,2 0 0,3 0 0,3 0 0,0 0 0,0 2 0,-4-9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22:43.121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111 1591 24575,'10'6'0,"14"13"0,12 17 0,5 5 0,1 1 0,-5-10 0,-2-5 0,2-2 0,-3-4 0,-1 0 0,-1-3 0,-2-3 0,0-2 0,-2 1 0,0-1 0,0 0 0,2 1 0,0 1 0,3 0 0,1 2 0,3-2 0,-1-2 0,-1-1 0,1-3 0,0 0 0,5-2 0,6-2 0,5-3 0,6 0 0,1-2 0,-2-4 0,-2-8 0,-2-10 0,0-10 0,2-6 0,-2-3 0,-7-2 0,-6-3 0,-9 0 0,-4-3 0,-4 1 0,-1-1 0,-4-3 0,-4-2 0,-5-5 0,-5-2 0,-1-4 0,-2 2 0,-1-2 0,-3 2 0,-2 3 0,-3 1 0,-1 3 0,-1 3 0,-3 1 0,-2 4 0,-3 2 0,-1 1 0,2 3 0,-1 0 0,-1-2 0,0-2 0,-2 0 0,-1 1 0,-1 2 0,-3 1 0,-1 2 0,-1 4 0,-2 0 0,-2 1 0,0-1 0,1-1 0,1 4 0,0-1 0,-3 6 0,-1 5 0,-2 5 0,0 4 0,-5 4 0,-2 2 0,-5 2 0,-4 2 0,-2 2 0,-5 1 0,0 1 0,0 0 0,3 0 0,3 1 0,1 5 0,3 8 0,5 12 0,3 10 0,1 8 0,1 6 0,0 5 0,3 1 0,2-4 0,3-5 0,5-6 0,5-4 0,4-4 0,2 0 0,1 4 0,0 0 0,1 1 0,0-2 0,3 1 0,2 2 0,3 2 0,0 1 0,1 0 0,1-3 0,1 0 0,2 0 0,0 1 0,0 1 0,0 2 0,0-2 0,2-1 0,3-4 0,2-6 0,0-3 0,-2-2 0,-1-3 0,-1-2 0,0-1 0,1 0 0,0 0 0,5 0 0,1-2 0,1 0 0,2-1 0,2 1 0,1 2 0,3 0 0,0-1 0,0 1 0,0 0 0,-2 0 0,-1 0 0,-1-1 0,-2-2 0,-3-3 0,-2-5 0,-3-4 0,-3 0 0,0-4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22:46.870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2 1442 24575,'0'25'0,"7"7"0,8 10 0,14 9 0,9-3 0,5-1 0,0-9 0,-4-9 0,-1-4 0,-7-5 0,-4-3 0,-6-5 0,-2-2 0,0-4 0,0 1 0,0-1 0,0 0 0,0-1 0,0-3 0,2 3 0,4-2 0,5-1 0,5 1 0,1-3 0,3 0 0,4 0 0,4 0 0,5 0 0,1 0 0,-1 0 0,-3-3 0,-4-2 0,-1-4 0,-2-6 0,3-5 0,1-8 0,-1-4 0,1-5 0,-7-1 0,-4-6 0,-6-5 0,-4-6 0,-3-5 0,-5-2 0,-4 0 0,-6-2 0,-4-2 0,-2-1 0,-1-1 0,-1 4 0,-6 4 0,-6 6 0,-5 5 0,-6 4 0,-2 3 0,-3 0 0,-3-1 0,0-2 0,-1-1 0,1 1 0,1 3 0,3 5 0,3 3 0,3 4 0,-1 1 0,0 0 0,-2 0 0,0-1 0,-1 0 0,1-1 0,0 0 0,0 0 0,2 3 0,0 1 0,1 2 0,-1 2 0,-2 3 0,-2 3 0,-1 3 0,-1 2 0,-3 3 0,0 5 0,0 2 0,-1 2 0,1 6 0,-2 8 0,0 12 0,-2 10 0,-1 6 0,1 10 0,-2 5 0,0 3 0,2-2 0,3-6 0,9-4 0,4-3 0,1 0 0,3 0 0,-1 1 0,3 2 0,3-2 0,0-1 0,1-2 0,2-7 0,0-2 0,0-4 0,3 1 0,-3-1 0,3 0 0,0 1 0,0 1 0,2-2 0,1 0 0,0-4 0,-1 0 0,0 1 0,-1-2 0,1 1 0,1-1 0,0-2 0,2-1 0,0-1 0,0 4 0,0 0 0,0 0 0,0-4 0,0-3 0,0 0 0,0-8 0,0 1 0,0-6 0,0 1 0,0-3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26:45.83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3928 44 24575,'-12'5'0,"-20"-1"0,-29-4 0,-32 0 0,40 0 0,-3 0 0,-5 0 0,-2 0 0,-1 0 0,-1 0 0,0 0 0,0 0 0,-4 0 0,1 0 0,1 0 0,-1 0 0,-3 0 0,0 0 0,-2 0 0,0 0 0,-2 0 0,-1 0 0,1-1 0,0-1 0,3-1 0,0 0 0,1-1 0,1 0 0,1 0 0,2-1 0,0 1 0,2 1 0,1 0 0,0 2 0,5-1 0,1 1 0,3 1 0,1 0 0,-45-3 0,8-1 0,5 1 0,5 0 0,2 3 0,0 2 0,0 4 0,-2 5 0,2 3 0,8 1 0,4-1 0,8-3 0,-8 3 0,30-6 0,-14 6 0,22-3 0,-10 5 0,-3 3 0,3 4 0,1 11 0,-4 13 0,-1 13 0,4 10 0,10 4 0,13 6 0,10 7 0,5 3 0,1 6 0,0-7 0,0-7 0,6-5 0,8-10 0,10-4 0,10-5 0,8-3 0,5-3 0,7 1 0,8-2 0,7 2 0,11 1 0,-35-28 0,0-1 0,3 0 0,1-1 0,5-2 0,1-1 0,5-1 0,2 0 0,3 0 0,1 0 0,3-2 0,0-1 0,-1 1 0,-2-2 0,0 0 0,-1-2 0,2 0 0,0-2 0,6-2 0,2-1 0,6-2 0,2-1 0,5-3 0,2-1 0,0-3 0,0-2 0,-2-4 0,0-4 0,2-5 0,-1-4 0,-2-3 0,0-4 0,1-3 0,0-1 0,-1 1 0,-1 1 0,-2 0 0,0 0 0,-2-1 0,0-1 0,-2 2 0,-2-2 0,-3-1 0,-2-2 0,-4 0 0,-2-1 0,-3 0 0,-2-3 0,-5 0 0,-3-1 0,-2 0 0,-2-1 0,-3-1 0,-3-2 0,-5 1 0,-3-1 0,-3 0 0,-4-1 0,-4 0 0,-4-1 0,12-45 0,-13 0 0,-10 0 0,-8 10 0,-15 8 0,-17 8 0,-20 9 0,-17 5 0,-11 9 0,-5 8 0,-7 6 0,-4 5 0,-2 3 0,4 5 0,11 6 0,15 3 0,17 4 0,24 1 0,10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9:26:48.368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2982 197 24575,'-24'0'0,"-18"0"0,-27 0 0,20 0 0,-4 0 0,-10 0 0,-2 0 0,-2 0 0,0 0 0,-3-2 0,-1-1 0,3-2 0,1-1 0,0-1 0,1-2 0,-3-2 0,0-1 0,-1-1 0,0-1 0,1-2 0,0 1 0,1 1 0,-1 0 0,4 1 0,2 2 0,7 3 0,2 1 0,-45-2 0,18 3 0,11 4 0,5 2 0,3 0 0,-8 0 0,-5 5 0,-6 9 0,-3 9 0,5 11 0,8 6 0,5 5 0,4 10 0,2 8 0,0 10 0,8 7 0,6 3 0,8 2 0,12-1 0,8-4 0,8-4 0,5-4 0,3-2 0,2-4 0,0 0 0,0-3 0,2 0 0,6 1 0,9 0 0,12 1 0,12 2 0,9 0 0,6-2 0,3-5 0,-8-13 0,2-4 0,18 4 0,-28-22 0,2 0 0,8 3 0,3-1 0,1-3 0,2-2 0,-1-3 0,1-2 0,3-1 0,3-4 0,6-1 0,2-3 0,4-2 0,1-2 0,0-1 0,0-2 0,-3-1 0,-1-1 0,-5-2 0,0-4 0,-3-4 0,1-4 0,4-5 0,0-5 0,1-3 0,-1-4 0,3-1 0,0-1 0,-2-1 0,-1 0 0,-6 1 0,-2 0 0,-4 0 0,-3 0 0,-6 1 0,-4 0 0,-6 0 0,-3-2 0,27-35 0,-11-6 0,-12-4 0,-8 1 0,-12 1 0,-9 1 0,-6-1 0,-13-4 0,-14 1 0,-15 3 0,-16 7 0,-8 7 0,-4 3 0,-7 4 0,-9-2 0,34 26 0,0 0 0,-4-1 0,-1 0 0,-1 0 0,0 0 0,1 3 0,1 2 0,5 4 0,1 3 0,-32-10 0,38 14 0,12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12.896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2527 126 24575,'-23'0'0,"-51"-10"0,17 3 0,-5-1 0,-14-2 0,-2-1 0,-5-1 0,1 0 0,14 3 0,3 0 0,0 1 0,1 0 0,6 2 0,0 1 0,4 1 0,0 1 0,3 1 0,1 0 0,-39 2 0,4 0 0,-4 0 0,0 0 0,1 4 0,6 6 0,12 6 0,6 5 0,8 6 0,1 4 0,-7 17 0,-9 12 0,30-25 0,-1 3 0,-5 4 0,-1 3 0,2-1 0,2 1 0,3 1 0,1-1 0,6-1 0,3 0 0,-12 37 0,16-2 0,13-3 0,9 0 0,3 0 0,2 6 0,4 9 0,17 6 0,1-41 0,6-1 0,9 1 0,6-2 0,13 4 0,5-2 0,5-3 0,3-4 0,10-4 0,5-5 0,-23-13 0,2-1 0,1-3-227,4-2 1,2-3-1,1-1 227,9 0 0,2-1 0,1-1 0,-1-3 0,0-2 0,0-1 0,2-3 0,-1-1 0,0-1 0,-3 0 0,0-2 0,-1-1 0,-6 0 0,-1-1 0,-1-1 0,-3 0 0,-1-1 0,-1-1-3,28-5 1,-2-5 2,-8-3 0,-3-6 0,-2-5 0,-2-7 0,0-7 0,-2-5 0,-2-7 0,-2-6 0,-2-4 0,-2-3 0,-4-3 0,-3-2 0,-8 1 0,-4-1 0,-8 5 0,-4-1 0,-6 4 0,-6 1 0,-8 7 0,-6 1 0,-7-40 679,-36 9-679,0 42 0,-8 3 3,-14-1 0,-8 3-3,-14-2 0,-4 2 0,-7 0 0,-2 2 0,28 13 0,-1 0 0,-1 1 0,-29-10 0,0 2 0,5 5 0,1 3 0,6 5 0,1 3 0,7 5 0,2 3 0,5 2 0,4 3 0,7 1 0,2 2 0,-36 7 0,43-5 0,15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18.762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1027 5 24575,'-27'0'0,"-6"0"0,-10 0 0,-7 0 0,-4 0 0,-2 0 0,-12 2 0,0 6 0,1 5 0,3 9 0,11 5 0,-3 7 0,1 9 0,-4 12 0,0 16 0,29-29 0,1 2 0,1 3 0,2 2 0,2-1 0,3 1 0,4 0 0,3-1 0,-4 45 0,12-6 0,4-3 0,5-9 0,12-7 0,19-4 0,20-8 0,21 1 0,9-5 0,-38-27 0,2-2 0,3-1 0,0 0 0,0-3 0,1-1 0,0 0 0,0 0 0,-3-2 0,-1 1 0,47 13 0,-5-5 0,-1-2 0,1-4 0,2-3 0,0-2 0,-3-4 0,7-4 0,-45-3 0,4-3 0,12-4 0,5-4 0,17-9 0,3-7-197,-25 4 0,1-3 0,-1-3 197,4-4 0,-1-3 0,-2-2 0,-6 2 0,-1-2 0,-4 0 0,14-10 0,-7 1 0,-15 4 0,-6 0 0,8-28 0,-26-2 0,-22-11 0,-22-7 295,1 42 1,-7 1-296,-8 0 0,-6 2 0,-8 3 0,-5 3 0,-5 1 0,-3 3 0,-7 2 0,-5 3 0,-8 2 0,-4 1 0,-8 2 0,-3 2 0,28 8 0,0 0 0,-1 1 0,0 0 0,-1 1 0,1 0 0,-30-5 0,0 1 0,7 1 0,2-1 0,5-1 0,2 0 0,13 0 0,3 0 0,12 0 0,3 0 0,-28-16 0,20 4 0,12 4 0,11 6 0,9 5 0,9 6 0,6 2 0,6 3 0,3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22.995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363 1 24575,'28'0'0,"-1"0"0,18 0 0,-5 0 0,8 0 0,-6 0 0,-3 0 0,0 0 0,2 0 0,-2 0 0,0 0 0,-6 0 0,-5 0 0,-1 0 0,-19 0 0,-2 0 0,-21 0 0,-10 0 0,-9 0 0,-13 0 0,-5 0 0,-6 0 0,-10 0 0,-6 0 0,-7 0 0,-5 0 0,1 0 0,7 0 0,12 0 0,15 0 0,14 0 0,17 0 0,6 0 0,13 0 0,10 4 0,-4-3 0,6 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25.748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0 24575,'24'0'0,"6"0"0,9 0 0,9 0 0,8 3 0,1-1 0,-6 3 0,-12 0 0,-15 0 0,-2 0 0,-3 0 0,0-1 0,0-1 0,-1-1 0,1-2 0,-3 0 0,-3 2 0,-2 0 0,-3 1 0,-2-1 0,0-2 0,-1 0 0,1 0 0,-1 0 0,-5 0 0,-10 0 0,-13 0 0,-13 0 0,-6 0 0,-3 0 0,2 0 0,5 0 0,2-2 0,6-1 0,-1-2 0,1 0 0,2 2 0,4 1 0,2 2 0,3 0 0,0 0 0,1 0 0,2 0 0,3 0 0,9 0 0,2 0 0,4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29.895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44 107 24575,'22'0'0,"-9"0"0,10 0 0,-16 0 0,10 0 0,-5 0 0,7-5 0,3 0 0,0-1 0,2 1 0,0 5 0,3 0 0,3 0 0,0 0 0,1 0 0,-3 0 0,0 0 0,-3 0 0,-3 0 0,-1 0 0,1-4 0,-9 2 0,2-3 0,-10 3 0,0-1 0,-1 1 0,1 2 0,-1 0 0,0 0 0,0 0 0,-1-2 0,-1-2 0,-3-2 0,-7-1 0,-12-1 0,-9-2 0,-8 1 0,-1 0 0,3 2 0,2 4 0,2 1 0,1 2 0,0 0 0,2 0 0,1 0 0,2 0 0,2 0 0,1 0 0,1 0 0,-2 0 0,-2 0 0,9 0 0,-3 0 0,8 0 0,-4 0 0,3 0 0,2 0 0,3 0 0,7 2 0,8 3 0,14 4 0,-7-3 0,25 2 0,0-5 0,10-1 0,5 1 0,-15-3 0,-3 1 0,-1 2 0,0 1 0,1 1 0,1 1 0,1-1 0,-4-2 0,-2-1 0,-6 0 0,-5 1 0,-3-1 0,-4 0 0,-4-2 0,-4 0 0,-2 0 0,-2 0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3:33.112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558 21 24575,'-11'0'0,"-8"0"0,-13 0 0,-11 0 0,-11 0 0,4 0 0,8 0 0,19 0 0,10 0 0,12 0 0,10 0 0,4-4 0,9-2 0,-3 0 0,0 2 0,1 4 0,2 0 0,2 0 0,0 0 0,0 0 0,-3 0 0,2 0 0,1 0 0,4 0 0,2 0 0,1 0 0,-1 0 0,-3 0 0,-2 0 0,-3 3 0,-3-1 0,0 0 0,1 4 0,-6-5 0,1 5 0,-11-4 0,-3 0 0,-10 0 0,-16-1 0,-21-1 0,-15 0 0,-13 0 0,-3 0 0,3 0 0,3 0 0,5 1 0,3 6 0,6 4 0,5 3 0,8-3 0,11-5 0,5-4 0,14-2 0,2 0 0,9 0 0,-2 0 0,3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6:35.1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3250 428 24575,'-35'0'0,"-34"0"0,9 0 0,-9 0 0,-25 0 0,-8 0 0,24 0 0,-4 0 0,-4 0 0,7 0 0,-5 0 0,-2 0 0,1 0-849,-2 0 1,0 0 0,-1 0-1,1 0 849,-1 0 0,1 0 0,0 0 0,1 0 0,6-1 0,0 1 0,2 0 0,4 0 201,-7-2 1,4 1 0,2-1-202,5 0 0,2-1 0,1 0 0,-18-2 0,3 0 329,10 0 1,4 1-330,11 0 0,4 0 0,-33-3 0,16 4 1740,15-2-1740,16 2 390,14 0-390,11 1 0,7 2 0,6 0 0,20-15 0,18-10 0,30-22 0,-26 17 0,2 0 0,3-3 0,1 1 0,-3 3 0,0 1 0,31-16 0,-22 16 0,-18 13 0,-14 8 0,-11 6 0,-10 5 0,-17 9 0,-20 16 0,-24 16 0,21-17 0,-2 1 0,-11 7 0,-1 0 0,-3-1 0,1 0 0,4-3 0,2-1 0,-30 18 0,34-20 0,29-16 0,21-5 0,22-8 0,11-2 0,3-1 0,-3-4 0,-5-1 0,-7 2 0,-12 8 0,0 19 0,0 21 0,10 19 0,11 9 0,5-3 0,-3-13 0,-6-16 0,-10-12 0,-6-13 0,-8-6 0,-2-5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7:16.163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1292 0 24575,'-82'55'0,"29"-20"0,-4 2 0,-15 12 0,-4 1 0,20-14 0,-1 1 0,-1-1 0,-7 2 0,0 0 0,-1 0 0,4-2 0,1-1 0,2-1 0,-19 11 0,4-3 0,15-8 0,6-3 0,-5 6 0,20-11 0,16-6 0,9-9 0,7-5 0,5-4 0,9-2 0,31 0 0,59 3 0,-19 2 0,8 2 0,-13 0 0,5 3 0,0 1-214,3 2 0,1 2 0,-1 1 214,-4 0 0,-2 2 0,-2 0 0,22 8 0,-8 0 0,-23-6 0,-7 0 0,22 9 0,-36-7 0,-31-11 0,-11-9 0,-41-29 321,-1 0 0,-6-5-321,-22-15 0,-7-5 0,16 13 0,-2-2 0,-1 0-165,-3-1 0,0-2 1,1 0 164,4 2 0,1-1 0,2 0 0,-15-14 0,6-1 0,12 4 0,6 1 0,14 9 0,5 2 0,-7-25 0,16 14 0,11 26 0,3 23 494,8 52-494,2 0 0,2 8 0,2 26 0,2 8 0,-2-20 0,1 2 0,0 2-294,1 6 0,0 2 1,-1 1 293,1 1 0,0 1 0,-1-1 0,0-6 0,-1-1 0,1-2 0,3 26 0,0-7 0,-2-21 0,0-8 0,5 20 0,-5-35 0,-1-22 0,-6-25 881,2-27-881,0-43 0,1 13 0,3-6 0,6-13 0,5-4 0,2 10 0,4-2 0,3-2-388,6-9 0,4-2 0,2 1 388,3-1 0,2 1 0,1 1 0,-1 3 0,0 2 0,0 4 0,12-14 0,-3 10 0,-12 21 0,-3 7 0,17-16 0,-21 33 0,-21 20 0,-7 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27:02.569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1292 0 24575,'-82'55'0,"29"-20"0,-4 2 0,-15 12 0,-4 1 0,20-14 0,-1 1 0,-1-1 0,-7 2 0,0 0 0,-1 0 0,4-2 0,1-1 0,2-1 0,-19 11 0,4-3 0,15-8 0,6-3 0,-5 6 0,20-11 0,16-6 0,9-9 0,7-5 0,5-4 0,9-2 0,31 0 0,59 3 0,-19 2 0,8 2 0,-13 0 0,5 3 0,0 1-214,3 2 0,1 2 0,-1 1 214,-4 0 0,-2 2 0,-2 0 0,22 8 0,-8 0 0,-23-6 0,-7 0 0,22 9 0,-36-7 0,-31-11 0,-11-9 0,-41-29 321,-1 0 0,-6-5-321,-22-15 0,-7-5 0,16 13 0,-2-2 0,-1 0-165,-3-1 0,0-2 1,1 0 164,4 2 0,1-1 0,2 0 0,-15-14 0,6-1 0,12 4 0,6 1 0,14 9 0,5 2 0,-7-25 0,16 14 0,11 26 0,3 23 494,8 52-494,2 0 0,2 8 0,2 26 0,2 8 0,-2-20 0,1 2 0,0 2-294,1 6 0,0 2 1,-1 1 293,1 1 0,0 1 0,-1-1 0,0-6 0,-1-1 0,1-2 0,3 26 0,0-7 0,-2-21 0,0-8 0,5 20 0,-5-35 0,-1-22 0,-6-25 881,2-27-881,0-43 0,1 13 0,3-6 0,6-13 0,5-4 0,2 10 0,4-2 0,3-2-388,6-9 0,4-2 0,2 1 388,3-1 0,2 1 0,1 1 0,-1 3 0,0 2 0,0 4 0,12-14 0,-3 10 0,-12 21 0,-3 7 0,17-16 0,-21 33 0,-21 20 0,-7 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28:06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1182 24575,'19'20'0,"6"13"0,8 19 0,2 13 0,-6 5 0,-1-2 0,-1-5 0,-4-7 0,-5-9 0,-6-7 0,-5-9 0,-3-3 0,-1-16 0,-1-11 0,-4-26 0,-1-21 0,0-25 0,1 20 0,2-5 0,4-12 0,6-3 0,9-14 0,9-2 0,-2 20 0,5-1 0,5 1-313,7-5 1,5 0 0,3 2 312,6-2 0,4 0 0,1 3 0,0 5 0,1 2 0,2 4 0,-2 6 0,1 3 0,0 4 0,-6 7 0,0 3 0,-1 4 0,16-5 0,-3 5 0,-10 8 0,-5 4 0,20-1 0,-27 11 0,-19 5 0,-17 2 0,-3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28:10.2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1182 24575,'19'20'0,"6"13"0,8 19 0,2 13 0,-6 5 0,-1-2 0,-1-5 0,-4-7 0,-5-9 0,-6-7 0,-5-9 0,-3-3 0,-1-16 0,-1-11 0,-4-26 0,-1-21 0,0-25 0,1 20 0,2-5 0,4-12 0,6-3 0,9-14 0,9-2 0,-2 20 0,5-1 0,5 1-313,7-5 1,5 0 0,3 2 312,6-2 0,4 0 0,1 3 0,0 5 0,1 2 0,2 4 0,-2 6 0,1 3 0,0 4 0,-6 7 0,0 3 0,-1 4 0,16-5 0,-3 5 0,-10 8 0,-5 4 0,20-1 0,-27 11 0,-19 5 0,-17 2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3:07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1182 24575,'19'20'0,"6"13"0,8 19 0,2 13 0,-6 5 0,-1-2 0,-1-5 0,-4-7 0,-5-9 0,-6-7 0,-5-9 0,-3-3 0,-1-16 0,-1-11 0,-4-26 0,-1-21 0,0-25 0,1 20 0,2-5 0,4-12 0,6-3 0,9-14 0,9-2 0,-2 20 0,5-1 0,5 1-313,7-5 1,5 0 0,3 2 312,6-2 0,4 0 0,1 3 0,0 5 0,1 2 0,2 4 0,-2 6 0,1 3 0,0 4 0,-6 7 0,0 3 0,-1 4 0,16-5 0,-3 5 0,-10 8 0,-5 4 0,20-1 0,-27 11 0,-19 5 0,-17 2 0,-3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3:13.5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1366 24575,'24'16'0,"13"14"0,15 14 0,4 7 0,-4-7 0,-10-6 0,-12-11 0,-11-10 0,-9-10 0,-8-9 0,-1-15 0,-1-26 0,6-52 0,6 19 0,8-9 0,2 14 0,5-3 0,6-2-504,9-10 0,6-3 0,5 2 504,-7 21 0,3 1 0,2 1 0,2 2 0,-1 6 0,2 1 0,1 3 0,0 2-156,14-7 1,1 5 0,-1 5 155,20-5 0,-5 8 0,-18 15 0,-5 5 0,24-6 0,-36 20 0,-28 3 1475,-11 2-1475,-20 0 0,6 1 0,-5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4:17.813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969 7 24575,'-25'4'0,"-21"14"0,-31 20 0,24-9 0,-4 5 0,-17 13 0,-3 3 0,-3 0 0,1 0 0,8-4 0,4-3 0,10-8 0,6-4 0,-7 2 0,19-8 0,8-7 0,17-6 0,2-3 0,14-7 0,9 0 0,20-2 0,28 0 0,21 0 0,17 0 0,-47 0 0,1 0 0,0 0 0,-1 0 0,45 0 0,-14-1 0,-22-1 0,-21-1 0,-17 1 0,-11-1 0,-5-2 0,-8-4 0,-12-9 0,-18-10 0,-17-15 0,-11-15 0,-2-10 0,3-4 0,9 2 0,9 8 0,11 10 0,9 13 0,5 12 0,7 11 0,5 12 0,2 19 0,2 24 0,1 24 0,-2 15 0,-1 5 0,-3-4 0,-2-3 0,1-5 0,2-10 0,2-10 0,3-13 0,0-10 0,0-9 0,0-7 0,0-4 0,0-3 0,0-1 0,0 0 0,0 1 0,0-1 0,0 1 0,0 5 0,0 4 0,0 3 0,0 2 0,0-4 0,0-3 0,0-4 0,0-7 0,4-12 0,9-14 0,13-20 0,13-9 0,14-10 0,7-4 0,6 0 0,5 4 0,-5 8 0,-6 13 0,-11 11 0,-13 11 0,-12 9 0,-11 4 0,-7 2 0,-5-3 0,-1-5 0,4-3 0,3-2 0,1 2 0,-2 4 0,-1 7 0,-5 3 0,2 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4:33.2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1570 280 24575,'-27'0'0,"-13"0"0,-21 0 0,-18 0 0,-6 0 0,-3 0 0,5 0 0,8 0 0,6 0 0,6 0 0,0 0 0,-1 0 0,-3 0 0,0 0 0,-1 0 0,5 0 0,3 0 0,6 0 0,11 0 0,4 0 0,7 0 0,4 0 0,4 0 0,3 0 0,2 0 0,3 0 0,0 0 0,3 0 0,2 0 0,5-4 0,12-5 0,18-12 0,22-11 0,18-8 0,11-7 0,0 5 0,-15 6 0,-16 10 0,-17 12 0,-12 6 0,-7 8 0,-10 4 0,-16 5 0,-22 14 0,-18 10 0,-19 12 0,-5 3 0,13-9 0,15-6 0,24-14 0,13-7 0,1-1 0,-3 0 0,-8 5 0,2 1 0,4-6 0,9-4 0,10-6 0,15-1 0,0 0 0,12 0 0,-6 0 0,0 1 0,3 2 0,1 5 0,6 6 0,3 4 0,2 2 0,2 2 0,-2 1 0,3 3 0,-1 2 0,-5-2 0,-3-3 0,-9-8 0,-9-8 0,-4-5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15:07.3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1717 261 24575,'-32'0'0,"-16"0"0,-11 0 0,-16 0 0,-7 0 0,33 0 0,-2 0 0,-2 0 0,1 0 0,-43 0 0,17 0 0,28 0 0,8 0 0,3-2 0,0-1 0,-1 0 0,1 1 0,2 1 0,1-1 0,2-1 0,-2 0 0,-4 1 0,-3 2 0,-3 0 0,0 0 0,2 1 0,2 3 0,1 3 0,4 2 0,3-1 0,3 0 0,4-3 0,5-2 0,4 0 0,3 0 0,-4-1 0,6 2 0,-9 0 0,7 2 0,-4 0 0,-3 3 0,8-4 0,-3 1 0,10-6 0,-2 0 0,4 0 0,3-2 0,5-6 0,12-7 0,20-14 0,10-6 0,1 1 0,-3 4 0,-12 7 0,-1 3 0,0 0 0,3 0 0,-1 0 0,-1 2 0,-1 2 0,-5 4 0,-5 2 0,-3 2 0,-8 2 0,-5 2 0,-4 2 0,-8 1 0,-8 7 0,-23 14 0,-12 11 0,-7 7 0,2 4 0,13-4 0,6-4 0,7-4 0,3-5 0,6-4 0,3-4 0,6-4 0,3-5 0,7-4 0,10 0 0,12 6 0,23 12 0,11 9 0,3 4 0,-5-1 0,-18-10 0,-7-7 0,-8-8 0,-9-4 0,-4-4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D062E-52F7-A14D-A443-1F3854784447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0EE9E-52B8-AA4F-8DD5-ED0FB4E5CBC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9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will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present a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project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focused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on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improving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the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robustness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geometry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handling in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Wakis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br>
              <a:rPr lang="da-DK" dirty="0"/>
            </a:b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While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Wakis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performs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well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for simple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geometries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importing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complex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CAD models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introduces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challenges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br>
              <a:rPr lang="da-DK" dirty="0"/>
            </a:b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project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aims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to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address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these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issues by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improving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geometry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cleaning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meshing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and sub-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cell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material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modeling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65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8EF5-564E-7025-FF0A-D3EDC449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F1C4505-CAA2-FF12-B2BE-CD86C7E7E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C07A786-3F92-EDEC-E8CB-63E933A3F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7A77ADE-E74D-480F-ECBE-4445938D1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0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86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main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goal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is to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make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Wakis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more robust and efficient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when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handling real-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world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CAD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geometries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4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4B38-2C28-4F31-7A23-D141840B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9A1E936-0DA0-E1FC-00D4-0F870B244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50706F-F388-5085-624D-E9B4985F7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932839D-1C29-7C33-0527-A3D50C35B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7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EE9E-52B8-AA4F-8DD5-ED0FB4E5CB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4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99F5AC-E194-CCF6-245E-BE30829ED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2542" y="2075542"/>
            <a:ext cx="2706915" cy="27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05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61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B3E2A-0B0F-434E-B8B5-23D05F72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7B39-23DF-A840-A7BA-86E01E93D669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ECA80-B569-3D47-B163-138B2BA81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8CA65-7C13-A442-AF74-D3BBDBCB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2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6F8ADC9-30DB-1243-8F69-09A7AAEA84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7" y="3429000"/>
            <a:ext cx="11376025" cy="2153265"/>
          </a:xfrm>
        </p:spPr>
        <p:txBody>
          <a:bodyPr anchor="t" anchorCtr="0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6D6D28-7860-E045-9091-E722B9476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700252"/>
            <a:ext cx="11376026" cy="803787"/>
          </a:xfrm>
        </p:spPr>
        <p:txBody>
          <a:bodyPr>
            <a:noAutofit/>
          </a:bodyPr>
          <a:lstStyle>
            <a:lvl1pPr marL="0" indent="0" algn="l">
              <a:buNone/>
              <a:defRPr sz="17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2679B87-F92D-91F6-69BF-481624EE6C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2224" y="714489"/>
            <a:ext cx="2059046" cy="20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9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9E8E9-3C73-3745-941D-102FAF02E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</p:spTree>
    <p:extLst>
      <p:ext uri="{BB962C8B-B14F-4D97-AF65-F5344CB8AC3E}">
        <p14:creationId xmlns:p14="http://schemas.microsoft.com/office/powerpoint/2010/main" val="54051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628650" indent="-261938">
              <a:buFont typeface="Arial" panose="020B0604020202020204" pitchFamily="34" charset="0"/>
              <a:buChar char="•"/>
              <a:tabLst/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 marL="889000" indent="-260350">
              <a:buSzPct val="100000"/>
              <a:buFont typeface="Arial" panose="020B0604020202020204" pitchFamily="34" charset="0"/>
              <a:buChar char="•"/>
              <a:tabLst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209675" indent="-269875"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buSzPct val="100000"/>
              <a:buFont typeface="Arial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0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51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3C51-3C01-364C-8C1F-513415625717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BAAC3B-64E8-6A4D-B184-3057E6D0D0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8" y="1439863"/>
            <a:ext cx="11376025" cy="4760912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91332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colour or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B6E0-915E-6A4B-BE3D-83464DDC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185B5-CF74-D44D-A9E3-83166F09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5D28C-D9FB-D84E-8771-15AE52B73C25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0124-268E-2640-B552-632FCB92F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4B92-ED84-1D4C-81AB-7D7F79EF89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Presenter | Presentation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E223B3-FDCC-6949-9C0B-F052B97037C1}"/>
              </a:ext>
            </a:extLst>
          </p:cNvPr>
          <p:cNvCxnSpPr/>
          <p:nvPr userDrawn="1"/>
        </p:nvCxnSpPr>
        <p:spPr>
          <a:xfrm>
            <a:off x="407987" y="6266608"/>
            <a:ext cx="1137602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082788-0C78-F842-A18F-84667EAC7E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988" y="6364800"/>
            <a:ext cx="4953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55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1A8103C-80BA-7941-AEF5-FB81302B57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45605"/>
            <a:ext cx="12192000" cy="6339300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5612" y="-64800"/>
            <a:ext cx="4116387" cy="635849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>
              <a:defRPr sz="2800">
                <a:solidFill>
                  <a:schemeClr val="bg1"/>
                </a:solidFill>
              </a:defRPr>
            </a:lvl1pPr>
            <a:lvl2pPr marL="324000" indent="-324000">
              <a:buFont typeface="Arial" charset="0"/>
              <a:buChar char="•"/>
              <a:tabLst/>
              <a:defRPr sz="2100">
                <a:solidFill>
                  <a:schemeClr val="bg1"/>
                </a:solidFill>
              </a:defRPr>
            </a:lvl2pPr>
            <a:lvl3pPr marL="648000" indent="-324000">
              <a:buSzPct val="100000"/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3pPr>
            <a:lvl4pPr marL="972000" indent="-324000">
              <a:buSzPct val="100000"/>
              <a:buFont typeface="Arial" charset="0"/>
              <a:buChar char="•"/>
              <a:tabLst/>
              <a:defRPr>
                <a:solidFill>
                  <a:schemeClr val="bg1"/>
                </a:solidFill>
              </a:defRPr>
            </a:lvl4pPr>
            <a:lvl5pPr marL="2057400" indent="-228600">
              <a:buSzPct val="100000"/>
              <a:buFont typeface="Arial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23244-45B8-6B4F-9B08-B3ECCA62DD59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0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2264"/>
            <a:ext cx="5616575" cy="460851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92264"/>
            <a:ext cx="5611813" cy="460851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3A8A69A-7619-C44B-A930-6AC38A3F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29319-06AA-7F42-ADF7-19DBBD11312C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55D6E3-4871-704B-B795-99BD30EA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EE4B464-E744-A34F-B223-6B554979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2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5616575" cy="668337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987" y="2427287"/>
            <a:ext cx="5616575" cy="3773488"/>
          </a:xfrm>
        </p:spPr>
        <p:txBody>
          <a:bodyPr/>
          <a:lstStyle>
            <a:lvl1pPr marL="324000" indent="-32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04966"/>
            <a:ext cx="5616600" cy="655634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27287"/>
            <a:ext cx="5611813" cy="3773488"/>
          </a:xfrm>
        </p:spPr>
        <p:txBody>
          <a:bodyPr/>
          <a:lstStyle>
            <a:lvl1pPr marL="324000" indent="-32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B511762-E0C9-6C4A-9015-D9D3D4FF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718-5652-6746-87EA-2129C5FBB0DE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689900-D127-9840-8E06-B694B9FE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B398DFD-572D-D549-8BBF-A86A1DFF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86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 userDrawn="1">
          <p15:clr>
            <a:srgbClr val="FBAE40"/>
          </p15:clr>
        </p15:guide>
        <p15:guide id="2" orient="horz" pos="152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5616574" cy="106574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5616575" cy="4602117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4588863-2E7B-784C-BD2D-8C3D0E7E1D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0"/>
            <a:ext cx="6024562" cy="6266120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329237-9A28-7F47-B6F4-ED5E1F4D6B14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1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Pictur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5616575" cy="4608512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4D9939-E67D-404A-BFAF-D6865F994267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7B07ADD-2F17-5640-985B-72FA646913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1592263"/>
            <a:ext cx="5616575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41C95B-0CD0-B44F-9130-66CCD53B86B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67438" y="3969703"/>
            <a:ext cx="5616575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036724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3708401" cy="4608512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22FD57-7E01-2947-A36A-572802D78600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255B7D9F-7313-2F46-8079-FEA6DAA0CF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75613" y="1592263"/>
            <a:ext cx="3708400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ECDCA30-A5C6-3549-9DAD-01819664F15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681" y="3969703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0332EED6-F049-354D-90C1-2CDBDFEB153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263" y="1592263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6E76A3-B525-534D-9396-8E4D08F06F6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59263" y="3978015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407050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2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5616575" cy="668337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04966"/>
            <a:ext cx="5616600" cy="655634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8" y="2420938"/>
            <a:ext cx="5616575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0609-1753-094D-A27B-B1604B6E44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60ADF95-1D50-A346-9F36-9D11B5959A20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80C24-4584-494A-B2E2-7C02911E02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BEDBAA-E014-4E48-AA09-5D0DC18C0C7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C9037A8-3728-274F-ADAC-4D3957FCBA4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72200" y="2420938"/>
            <a:ext cx="5616575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GB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845831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3708401" cy="668337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21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75612" y="1604966"/>
            <a:ext cx="3713187" cy="655634"/>
          </a:xfrm>
        </p:spPr>
        <p:txBody>
          <a:bodyPr anchor="t" anchorCtr="0"/>
          <a:lstStyle>
            <a:lvl1pPr marL="0" indent="0">
              <a:spcBef>
                <a:spcPts val="400"/>
              </a:spcBef>
              <a:spcAft>
                <a:spcPts val="0"/>
              </a:spcAft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9" y="2429902"/>
            <a:ext cx="3708400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C779F7E-9707-2542-A19F-DD09A53038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5613" y="2429902"/>
            <a:ext cx="3713187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="1"/>
            </a:lvl1pPr>
          </a:lstStyle>
          <a:p>
            <a:r>
              <a:rPr lang="en-US"/>
              <a:t>Drag and Drop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494478-3D3E-894B-9652-AD035750548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53846" y="1601227"/>
            <a:ext cx="3708401" cy="668337"/>
          </a:xfrm>
        </p:spPr>
        <p:txBody>
          <a:bodyPr anchor="t" anchorCtr="0"/>
          <a:lstStyle>
            <a:lvl1pPr marL="0" indent="0">
              <a:spcBef>
                <a:spcPts val="400"/>
              </a:spcBef>
              <a:spcAft>
                <a:spcPts val="0"/>
              </a:spcAft>
              <a:buNone/>
              <a:defRPr sz="21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F540559-B2D9-2E46-A3D6-32F0B01F69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59262" y="2429902"/>
            <a:ext cx="3673475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5D2BF-D955-984C-BC88-5F6A8BCB9E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0B6D7F9-B89E-4E44-88DB-D2B03C1575BD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0286-4FA5-DB4D-961C-C9035150A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A103EE-A109-9549-821B-7193CDF3E1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835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icture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494478-3D3E-894B-9652-AD035750548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16386" y="1601376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F540559-B2D9-2E46-A3D6-32F0B01F69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16386" y="2732442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5D2BF-D955-984C-BC88-5F6A8BCB9E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CA310A-8036-D740-9C67-C96559B7989C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0286-4FA5-DB4D-961C-C9035150A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A103EE-A109-9549-821B-7193CDF3E1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0E95B09-A858-4A4A-B159-8C5B917D41E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3275" y="5078524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2FF76D54-8841-EA4B-B514-DFCE90D05C8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50" y="1601376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ED6363A-4107-5A4F-9E1E-0E88F802ABE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32388" y="5078524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1039F33-9CD5-004A-9F94-52D16B2EB08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32388" y="1601376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550207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orizontal an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2776" y="1592263"/>
            <a:ext cx="11376024" cy="2563906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AFC8C-E604-7447-B130-D845972B5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9" y="4294188"/>
            <a:ext cx="3708400" cy="1906587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33DD4F-F84F-4A45-A378-099F8963A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7201" y="4294188"/>
            <a:ext cx="3665537" cy="1906587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3D880-B3D6-7548-AFF1-D644AAD7B36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F864767-D034-6F4D-A79A-403E389348E4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7D45-A6BD-6040-8ECE-F9608F5313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3D89-638E-6949-858F-F83F83B33D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A3085A2-8BF3-9742-B023-7524E7B1C8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668" y="4294188"/>
            <a:ext cx="3703132" cy="1906587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65685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orizontal and text i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592263"/>
            <a:ext cx="12192000" cy="2945870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AFC8C-E604-7447-B130-D845972B5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9" y="4294188"/>
            <a:ext cx="3708400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33DD4F-F84F-4A45-A378-099F8963A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7201" y="4294188"/>
            <a:ext cx="3665537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3D880-B3D6-7548-AFF1-D644AAD7B36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5B03441-D3E1-7842-803A-ECC2015F2216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7D45-A6BD-6040-8ECE-F9608F5313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3D89-638E-6949-858F-F83F83B33D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A3085A2-8BF3-9742-B023-7524E7B1C8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668" y="4294188"/>
            <a:ext cx="3703132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1783906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7" y="1709738"/>
            <a:ext cx="11376025" cy="2852737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4589463"/>
            <a:ext cx="1137602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FEBF6-CE90-CC4E-8695-4D9E4AF1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FAC2-1082-0349-931A-E17E3D1FD5EA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BCDCA-F2B2-9249-AB85-06169E64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4A1B0-EF49-4F43-ACA9-49641973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23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8F7083-D188-D543-8008-F25F138E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E494-8AEE-344E-B8BB-A4B2E261658F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980EB7-C2CB-9D4D-8C5E-3EB09317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74050C-1801-2345-9DC3-F06B163A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08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63763-5414-8544-AF6D-F8D5C9B1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46AD-AE35-A04A-BBC1-316D1F62DB10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8A5D0-906E-0046-B0F3-96283308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B140E-F283-BD43-9D8C-905BDA42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4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59AC4-96B9-704B-82C7-32D5BEFF3254}"/>
              </a:ext>
            </a:extLst>
          </p:cNvPr>
          <p:cNvSpPr txBox="1"/>
          <p:nvPr userDrawn="1"/>
        </p:nvSpPr>
        <p:spPr>
          <a:xfrm>
            <a:off x="407988" y="6196406"/>
            <a:ext cx="113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CH" dirty="0" err="1"/>
              <a:t>home.cern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8C33B9-27C2-73E8-E37D-336ABF63A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58632" y="4869770"/>
            <a:ext cx="1074737" cy="107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7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7988" y="373593"/>
            <a:ext cx="11376025" cy="10657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9" y="1592263"/>
            <a:ext cx="11376024" cy="46085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0336" y="6378349"/>
            <a:ext cx="16207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7EFCF37F-0624-3A4F-A6BC-24980A3E6108}" type="datetime1">
              <a:rPr lang="en-GB" smtClean="0"/>
              <a:pPr/>
              <a:t>20/05/2026</a:t>
            </a:fld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07546" y="6378349"/>
            <a:ext cx="68125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 b="1">
                <a:solidFill>
                  <a:schemeClr val="tx1"/>
                </a:solidFill>
              </a:defRPr>
            </a:lvl1pPr>
          </a:lstStyle>
          <a:p>
            <a:fld id="{36B5EA5A-BC32-A742-B11B-8E7414D5B53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B22024-69B4-1F4F-8860-CB954517F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9263" y="6378349"/>
            <a:ext cx="428501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| Presentation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C6532-AEDE-354E-83AD-7F67D706DF38}"/>
              </a:ext>
            </a:extLst>
          </p:cNvPr>
          <p:cNvCxnSpPr/>
          <p:nvPr userDrawn="1"/>
        </p:nvCxnSpPr>
        <p:spPr>
          <a:xfrm>
            <a:off x="407987" y="6266608"/>
            <a:ext cx="1137602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26E9AC2-DB3F-3043-BAF1-FDB172EA2CD8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407988" y="6364599"/>
            <a:ext cx="4953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6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62" r:id="rId3"/>
    <p:sldLayoutId id="2147483678" r:id="rId4"/>
    <p:sldLayoutId id="2147483665" r:id="rId5"/>
    <p:sldLayoutId id="2147483668" r:id="rId6"/>
    <p:sldLayoutId id="2147483677" r:id="rId7"/>
    <p:sldLayoutId id="2147483674" r:id="rId8"/>
    <p:sldLayoutId id="2147483652" r:id="rId9"/>
    <p:sldLayoutId id="2147483653" r:id="rId10"/>
    <p:sldLayoutId id="2147483661" r:id="rId11"/>
    <p:sldLayoutId id="2147483666" r:id="rId12"/>
    <p:sldLayoutId id="2147483667" r:id="rId13"/>
    <p:sldLayoutId id="2147483658" r:id="rId14"/>
    <p:sldLayoutId id="2147483659" r:id="rId15"/>
    <p:sldLayoutId id="2147483673" r:id="rId16"/>
    <p:sldLayoutId id="2147483660" r:id="rId17"/>
    <p:sldLayoutId id="2147483671" r:id="rId18"/>
    <p:sldLayoutId id="2147483651" r:id="rId19"/>
    <p:sldLayoutId id="2147483654" r:id="rId20"/>
    <p:sldLayoutId id="2147483669" r:id="rId21"/>
    <p:sldLayoutId id="2147483655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Font typeface="Arial"/>
        <a:buNone/>
        <a:tabLst/>
        <a:defRPr sz="2100" b="1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2385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Arial" charset="0"/>
        <a:buChar char="•"/>
        <a:tabLst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64800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97200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23" userDrawn="1">
          <p15:clr>
            <a:srgbClr val="F26B43"/>
          </p15:clr>
        </p15:guide>
        <p15:guide id="4" pos="257" userDrawn="1">
          <p15:clr>
            <a:srgbClr val="F26B43"/>
          </p15:clr>
        </p15:guide>
        <p15:guide id="6" pos="3795" userDrawn="1">
          <p15:clr>
            <a:srgbClr val="F26B43"/>
          </p15:clr>
        </p15:guide>
        <p15:guide id="7" pos="3885" userDrawn="1">
          <p15:clr>
            <a:srgbClr val="F26B43"/>
          </p15:clr>
        </p15:guide>
        <p15:guide id="8" pos="5087" userDrawn="1">
          <p15:clr>
            <a:srgbClr val="F26B43"/>
          </p15:clr>
        </p15:guide>
        <p15:guide id="9" pos="4997" userDrawn="1">
          <p15:clr>
            <a:srgbClr val="F26B43"/>
          </p15:clr>
        </p15:guide>
        <p15:guide id="10" pos="2683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orient="horz" pos="3906" userDrawn="1">
          <p15:clr>
            <a:srgbClr val="F26B43"/>
          </p15:clr>
        </p15:guide>
        <p15:guide id="13" orient="horz" pos="2409" userDrawn="1">
          <p15:clr>
            <a:srgbClr val="F26B43"/>
          </p15:clr>
        </p15:guide>
        <p15:guide id="14" orient="horz" pos="913" userDrawn="1">
          <p15:clr>
            <a:srgbClr val="F26B43"/>
          </p15:clr>
        </p15:guide>
        <p15:guide id="15" orient="horz" pos="1003" userDrawn="1">
          <p15:clr>
            <a:srgbClr val="F26B43"/>
          </p15:clr>
        </p15:guide>
        <p15:guide id="16" orient="horz" pos="2500" userDrawn="1">
          <p15:clr>
            <a:srgbClr val="F26B43"/>
          </p15:clr>
        </p15:guide>
        <p15:guide id="17" pos="6312" userDrawn="1">
          <p15:clr>
            <a:srgbClr val="F26B43"/>
          </p15:clr>
        </p15:guide>
        <p15:guide id="18" pos="62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.png"/><Relationship Id="rId5" Type="http://schemas.openxmlformats.org/officeDocument/2006/relationships/customXml" Target="../ink/ink4.xml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20.png"/><Relationship Id="rId18" Type="http://schemas.openxmlformats.org/officeDocument/2006/relationships/customXml" Target="../ink/ink12.xml"/><Relationship Id="rId3" Type="http://schemas.openxmlformats.org/officeDocument/2006/relationships/image" Target="../media/image17.png"/><Relationship Id="rId21" Type="http://schemas.openxmlformats.org/officeDocument/2006/relationships/image" Target="../media/image24.png"/><Relationship Id="rId7" Type="http://schemas.openxmlformats.org/officeDocument/2006/relationships/image" Target="../media/image170.png"/><Relationship Id="rId12" Type="http://schemas.openxmlformats.org/officeDocument/2006/relationships/customXml" Target="../ink/ink9.xml"/><Relationship Id="rId17" Type="http://schemas.openxmlformats.org/officeDocument/2006/relationships/image" Target="../media/image22.png"/><Relationship Id="rId2" Type="http://schemas.openxmlformats.org/officeDocument/2006/relationships/image" Target="../media/image16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11" Type="http://schemas.openxmlformats.org/officeDocument/2006/relationships/image" Target="../media/image19.png"/><Relationship Id="rId5" Type="http://schemas.openxmlformats.org/officeDocument/2006/relationships/image" Target="../media/image160.png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10" Type="http://schemas.openxmlformats.org/officeDocument/2006/relationships/customXml" Target="../ink/ink8.xml"/><Relationship Id="rId19" Type="http://schemas.openxmlformats.org/officeDocument/2006/relationships/image" Target="../media/image23.png"/><Relationship Id="rId4" Type="http://schemas.openxmlformats.org/officeDocument/2006/relationships/customXml" Target="../ink/ink5.xml"/><Relationship Id="rId9" Type="http://schemas.openxmlformats.org/officeDocument/2006/relationships/image" Target="../media/image18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0.xml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18.xml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0.png"/><Relationship Id="rId5" Type="http://schemas.openxmlformats.org/officeDocument/2006/relationships/customXml" Target="../ink/ink22.xml"/><Relationship Id="rId10" Type="http://schemas.openxmlformats.org/officeDocument/2006/relationships/customXml" Target="../ink/ink25.xml"/><Relationship Id="rId4" Type="http://schemas.openxmlformats.org/officeDocument/2006/relationships/image" Target="../media/image310.png"/><Relationship Id="rId9" Type="http://schemas.openxmlformats.org/officeDocument/2006/relationships/image" Target="../media/image3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3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0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0" Type="http://schemas.openxmlformats.org/officeDocument/2006/relationships/image" Target="../media/image360.png"/><Relationship Id="rId4" Type="http://schemas.openxmlformats.org/officeDocument/2006/relationships/image" Target="../media/image330.png"/><Relationship Id="rId9" Type="http://schemas.openxmlformats.org/officeDocument/2006/relationships/customXml" Target="../ink/ink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51C5-3272-6249-822A-715EFFE0D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Internship project Status W12: CAD </a:t>
            </a:r>
            <a:r>
              <a:rPr lang="en-US"/>
              <a:t>Import &amp; </a:t>
            </a:r>
            <a:r>
              <a:rPr lang="en-US" dirty="0"/>
              <a:t>meshing in </a:t>
            </a:r>
            <a:r>
              <a:rPr lang="en-US" dirty="0" err="1"/>
              <a:t>Wakis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99459-0238-C64F-8F4D-7EA359453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649549"/>
            <a:ext cx="11376026" cy="803787"/>
          </a:xfrm>
        </p:spPr>
        <p:txBody>
          <a:bodyPr/>
          <a:lstStyle/>
          <a:p>
            <a:pPr algn="l"/>
            <a:r>
              <a:rPr lang="en-US" dirty="0"/>
              <a:t>Student: Clara </a:t>
            </a:r>
            <a:r>
              <a:rPr lang="en-US" dirty="0" err="1"/>
              <a:t>R.Wimmelmann</a:t>
            </a:r>
            <a:r>
              <a:rPr lang="en-US" dirty="0"/>
              <a:t>. Supervisors: Elena De La Fuente Garcia, Carlo </a:t>
            </a:r>
            <a:r>
              <a:rPr lang="en-US" dirty="0" err="1"/>
              <a:t>Zannini</a:t>
            </a:r>
            <a:r>
              <a:rPr lang="en-US" dirty="0"/>
              <a:t> &amp; Jakob </a:t>
            </a:r>
            <a:r>
              <a:rPr lang="en-US" dirty="0" err="1"/>
              <a:t>Schiøtz</a:t>
            </a:r>
            <a:endParaRPr lang="en-US" dirty="0"/>
          </a:p>
          <a:p>
            <a:pPr algn="l"/>
            <a:r>
              <a:rPr lang="en-US" b="0" dirty="0"/>
              <a:t>Date: 22/4-2026</a:t>
            </a:r>
          </a:p>
        </p:txBody>
      </p:sp>
      <p:pic>
        <p:nvPicPr>
          <p:cNvPr id="5" name="Billede 4" descr="Et billede, der indeholder Font/skrifttype, Grafik, design&#10;&#10;Automatisk genereret beskrivelse">
            <a:extLst>
              <a:ext uri="{FF2B5EF4-FFF2-40B4-BE49-F238E27FC236}">
                <a16:creationId xmlns:a16="http://schemas.microsoft.com/office/drawing/2014/main" id="{A0019516-31CF-71D9-F9E0-9A6D63ED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537621"/>
            <a:ext cx="3168352" cy="2521055"/>
          </a:xfrm>
          <a:prstGeom prst="rect">
            <a:avLst/>
          </a:prstGeom>
        </p:spPr>
      </p:pic>
      <p:pic>
        <p:nvPicPr>
          <p:cNvPr id="1026" name="Picture 2" descr="Danmarks Tekniske Universitet – Lex">
            <a:extLst>
              <a:ext uri="{FF2B5EF4-FFF2-40B4-BE49-F238E27FC236}">
                <a16:creationId xmlns:a16="http://schemas.microsoft.com/office/drawing/2014/main" id="{DA0CF01C-CF39-2478-DB81-80DC8C678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" y="840661"/>
            <a:ext cx="1313444" cy="191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96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BE0F-D3F0-DC18-A637-74B6C547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999A54-1E19-7B32-FC3A-9627052BE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25" y="1340768"/>
            <a:ext cx="10971950" cy="460851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Benchmarks of the methods on the shell &amp; 6L2 device objects mask </a:t>
            </a:r>
          </a:p>
          <a:p>
            <a:pPr marL="742950" lvl="1" indent="-457200">
              <a:lnSpc>
                <a:spcPct val="120000"/>
              </a:lnSpc>
            </a:pPr>
            <a:r>
              <a:rPr lang="en-US" sz="1600" dirty="0"/>
              <a:t>Mask volume (quantitative)</a:t>
            </a:r>
          </a:p>
          <a:p>
            <a:pPr marL="1003300" lvl="2" indent="-457200">
              <a:lnSpc>
                <a:spcPct val="120000"/>
              </a:lnSpc>
            </a:pPr>
            <a:r>
              <a:rPr lang="en-US" sz="1600" dirty="0"/>
              <a:t>High grid resolution results </a:t>
            </a:r>
          </a:p>
          <a:p>
            <a:pPr marL="742950" lvl="1" indent="-457200">
              <a:lnSpc>
                <a:spcPct val="120000"/>
              </a:lnSpc>
            </a:pPr>
            <a:r>
              <a:rPr lang="en-US" sz="1600" dirty="0"/>
              <a:t>Mask slices  (qualitative: visual inspection)</a:t>
            </a:r>
          </a:p>
          <a:p>
            <a:pPr marL="285750" lvl="1" indent="0">
              <a:lnSpc>
                <a:spcPct val="120000"/>
              </a:lnSpc>
              <a:buNone/>
            </a:pPr>
            <a:endParaRPr lang="en-US" sz="16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 err="1"/>
              <a:t>Wakis</a:t>
            </a:r>
            <a:r>
              <a:rPr lang="en-US" sz="2000" dirty="0"/>
              <a:t> </a:t>
            </a:r>
            <a:r>
              <a:rPr lang="en-US" sz="2000" dirty="0" err="1"/>
              <a:t>wakefield</a:t>
            </a:r>
            <a:r>
              <a:rPr lang="en-US" sz="2000" dirty="0"/>
              <a:t> simulation of the simple shell cavity device for all methods</a:t>
            </a:r>
          </a:p>
          <a:p>
            <a:pPr marL="742950" lvl="1" indent="-457200">
              <a:lnSpc>
                <a:spcPct val="120000"/>
              </a:lnSpc>
            </a:pPr>
            <a:r>
              <a:rPr lang="en-US" sz="1600" dirty="0" err="1"/>
              <a:t>Voxelize_rectilinear</a:t>
            </a:r>
            <a:r>
              <a:rPr lang="en-US" sz="1600" dirty="0"/>
              <a:t> results &amp; Impedance mode shifts </a:t>
            </a:r>
          </a:p>
          <a:p>
            <a:pPr marL="285750" lvl="1" indent="0">
              <a:lnSpc>
                <a:spcPct val="120000"/>
              </a:lnSpc>
              <a:buNone/>
            </a:pPr>
            <a:endParaRPr lang="en-US" sz="16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Decimate benchmarks </a:t>
            </a:r>
          </a:p>
          <a:p>
            <a:pPr marL="742950" lvl="1" indent="-457200">
              <a:lnSpc>
                <a:spcPct val="120000"/>
              </a:lnSpc>
            </a:pPr>
            <a:r>
              <a:rPr lang="en-US" sz="1600" dirty="0"/>
              <a:t>Decimate, </a:t>
            </a:r>
            <a:r>
              <a:rPr lang="en-US" sz="1600" dirty="0" err="1"/>
              <a:t>decimate_pro</a:t>
            </a:r>
            <a:r>
              <a:rPr lang="en-US" sz="1600" dirty="0"/>
              <a:t> and the optimal decimation factor</a:t>
            </a:r>
          </a:p>
          <a:p>
            <a:pPr marL="742950" lvl="1" indent="-457200">
              <a:lnSpc>
                <a:spcPct val="120000"/>
              </a:lnSpc>
            </a:pPr>
            <a:r>
              <a:rPr lang="en-US" sz="1600" dirty="0" err="1"/>
              <a:t>Decimate_pro</a:t>
            </a:r>
            <a:r>
              <a:rPr lang="en-US" sz="1600" dirty="0"/>
              <a:t>(0.80) benchmark per method for 6L2 objects </a:t>
            </a:r>
          </a:p>
          <a:p>
            <a:pPr marL="285750" lvl="1" indent="0">
              <a:lnSpc>
                <a:spcPct val="120000"/>
              </a:lnSpc>
              <a:buNone/>
            </a:pPr>
            <a:endParaRPr lang="en-US" sz="16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The meshing algorithm times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85E2A2-A8BE-5692-7A57-00E537E8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90" y="453695"/>
            <a:ext cx="5328592" cy="1065742"/>
          </a:xfrm>
        </p:spPr>
        <p:txBody>
          <a:bodyPr/>
          <a:lstStyle/>
          <a:p>
            <a:r>
              <a:rPr lang="en-US" dirty="0"/>
              <a:t>Outline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45878-8976-EBA4-21D9-C9354E8B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F4ED-E0F5-F64C-AC79-4679EEF727CE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CDB0A-37B1-FF47-2502-BE03F850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7728" y="6378348"/>
            <a:ext cx="489654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7B173-CB56-989B-CCBE-A8E4D80F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Billede 7" descr="Et billede, der indeholder cylinder, cirkel, objektiv&#10;&#10;Automatisk genereret beskrivelse">
            <a:extLst>
              <a:ext uri="{FF2B5EF4-FFF2-40B4-BE49-F238E27FC236}">
                <a16:creationId xmlns:a16="http://schemas.microsoft.com/office/drawing/2014/main" id="{D007E68E-11DE-9717-2254-C57117965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336" y="908721"/>
            <a:ext cx="2327837" cy="2032599"/>
          </a:xfrm>
          <a:prstGeom prst="rect">
            <a:avLst/>
          </a:prstGeom>
        </p:spPr>
      </p:pic>
      <p:pic>
        <p:nvPicPr>
          <p:cNvPr id="10" name="Billede 9" descr="Et billede, der indeholder vase, flaske, kunst&#10;&#10;Automatisk genereret beskrivelse">
            <a:extLst>
              <a:ext uri="{FF2B5EF4-FFF2-40B4-BE49-F238E27FC236}">
                <a16:creationId xmlns:a16="http://schemas.microsoft.com/office/drawing/2014/main" id="{B3D737C8-77EE-F5FB-E82B-8E23B2F68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339"/>
          <a:stretch/>
        </p:blipFill>
        <p:spPr>
          <a:xfrm>
            <a:off x="9930730" y="3044422"/>
            <a:ext cx="1994446" cy="31193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Håndskrift 10">
                <a:extLst>
                  <a:ext uri="{FF2B5EF4-FFF2-40B4-BE49-F238E27FC236}">
                    <a16:creationId xmlns:a16="http://schemas.microsoft.com/office/drawing/2014/main" id="{C9DEBA1B-D0F7-8C26-480D-D3BBC512D4DE}"/>
                  </a:ext>
                </a:extLst>
              </p14:cNvPr>
              <p14:cNvContentPartPr/>
              <p14:nvPr/>
            </p14:nvContentPartPr>
            <p14:xfrm>
              <a:off x="6292800" y="570090"/>
              <a:ext cx="3241440" cy="754560"/>
            </p14:xfrm>
          </p:contentPart>
        </mc:Choice>
        <mc:Fallback xmlns="">
          <p:pic>
            <p:nvPicPr>
              <p:cNvPr id="11" name="Håndskrift 10">
                <a:extLst>
                  <a:ext uri="{FF2B5EF4-FFF2-40B4-BE49-F238E27FC236}">
                    <a16:creationId xmlns:a16="http://schemas.microsoft.com/office/drawing/2014/main" id="{C9DEBA1B-D0F7-8C26-480D-D3BBC512D4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83800" y="561090"/>
                <a:ext cx="325908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0F2B96BB-A22A-F3E0-AE8C-48F199C2F559}"/>
                  </a:ext>
                </a:extLst>
              </p14:cNvPr>
              <p14:cNvContentPartPr/>
              <p14:nvPr/>
            </p14:nvContentPartPr>
            <p14:xfrm>
              <a:off x="6033600" y="3383850"/>
              <a:ext cx="3729960" cy="974520"/>
            </p14:xfrm>
          </p:contentPart>
        </mc:Choice>
        <mc:Fallback xmlns=""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0F2B96BB-A22A-F3E0-AE8C-48F199C2F5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24960" y="3375210"/>
                <a:ext cx="3747600" cy="9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75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719A-5680-0B4B-9839-BAB16F1F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0E15A-9727-AA42-934E-945C1BD5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shell: mask volume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B850B39-E388-FE3F-B8CC-F3EB6B20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DC7F311-254F-FF07-D75C-B8818FC3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E2BD765-8908-2B99-CAC4-CD140843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Billede 11" descr="Et billede, der indeholder tekst, linje/række, skærmbillede, Kurve&#10;&#10;Automatisk genereret beskrivelse">
            <a:extLst>
              <a:ext uri="{FF2B5EF4-FFF2-40B4-BE49-F238E27FC236}">
                <a16:creationId xmlns:a16="http://schemas.microsoft.com/office/drawing/2014/main" id="{B61F00A6-BB60-E40B-0C21-1E4CB3F6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930745"/>
            <a:ext cx="8640960" cy="513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4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E561D-FF1C-9E1B-3975-6F1417AD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25210"/>
            <a:ext cx="11784013" cy="1065742"/>
          </a:xfrm>
        </p:spPr>
        <p:txBody>
          <a:bodyPr/>
          <a:lstStyle/>
          <a:p>
            <a:r>
              <a:rPr lang="en-US" dirty="0"/>
              <a:t>Benchmark: 6L2 sub-objects </a:t>
            </a:r>
            <a:r>
              <a:rPr lang="en-US" sz="2400" dirty="0"/>
              <a:t>(</a:t>
            </a:r>
            <a:r>
              <a:rPr lang="en-US" sz="2400" b="0" dirty="0"/>
              <a:t>added</a:t>
            </a:r>
            <a:r>
              <a:rPr lang="en-US" sz="2400" dirty="0"/>
              <a:t> N=225,250 </a:t>
            </a:r>
            <a:r>
              <a:rPr lang="en-US" sz="2400" b="0" dirty="0"/>
              <a:t>grid resolutions</a:t>
            </a:r>
            <a:r>
              <a:rPr lang="en-US" sz="2400" dirty="0"/>
              <a:t>)</a:t>
            </a:r>
            <a:endParaRPr lang="en-US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346C268-557E-CDE4-037D-D9249617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54AAA3C-A567-8BA0-B38C-1D1705BC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55DDD8A-E416-C734-8E17-F3A0B491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Billede 9" descr="Et billede, der indeholder tekst, linje/række, diagram, Font/skrifttype&#10;&#10;Automatisk genereret beskrivelse">
            <a:extLst>
              <a:ext uri="{FF2B5EF4-FFF2-40B4-BE49-F238E27FC236}">
                <a16:creationId xmlns:a16="http://schemas.microsoft.com/office/drawing/2014/main" id="{1ECD42CA-3A18-5E2F-5607-0871A30A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90643"/>
            <a:ext cx="9121751" cy="60383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Håndskrift 12">
                <a:extLst>
                  <a:ext uri="{FF2B5EF4-FFF2-40B4-BE49-F238E27FC236}">
                    <a16:creationId xmlns:a16="http://schemas.microsoft.com/office/drawing/2014/main" id="{E786ED32-8B7C-04F3-AD51-E39D1532B8ED}"/>
                  </a:ext>
                </a:extLst>
              </p14:cNvPr>
              <p14:cNvContentPartPr/>
              <p14:nvPr/>
            </p14:nvContentPartPr>
            <p14:xfrm>
              <a:off x="3594793" y="762384"/>
              <a:ext cx="1288800" cy="340560"/>
            </p14:xfrm>
          </p:contentPart>
        </mc:Choice>
        <mc:Fallback xmlns="">
          <p:pic>
            <p:nvPicPr>
              <p:cNvPr id="13" name="Håndskrift 12">
                <a:extLst>
                  <a:ext uri="{FF2B5EF4-FFF2-40B4-BE49-F238E27FC236}">
                    <a16:creationId xmlns:a16="http://schemas.microsoft.com/office/drawing/2014/main" id="{E786ED32-8B7C-04F3-AD51-E39D1532B8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7153" y="744384"/>
                <a:ext cx="13244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Håndskrift 20">
                <a:extLst>
                  <a:ext uri="{FF2B5EF4-FFF2-40B4-BE49-F238E27FC236}">
                    <a16:creationId xmlns:a16="http://schemas.microsoft.com/office/drawing/2014/main" id="{D983973D-B7C2-EB7E-9AB9-AEABF08543DF}"/>
                  </a:ext>
                </a:extLst>
              </p14:cNvPr>
              <p14:cNvContentPartPr/>
              <p14:nvPr/>
            </p14:nvContentPartPr>
            <p14:xfrm>
              <a:off x="2011873" y="3025704"/>
              <a:ext cx="571680" cy="186840"/>
            </p14:xfrm>
          </p:contentPart>
        </mc:Choice>
        <mc:Fallback xmlns="">
          <p:pic>
            <p:nvPicPr>
              <p:cNvPr id="21" name="Håndskrift 20">
                <a:extLst>
                  <a:ext uri="{FF2B5EF4-FFF2-40B4-BE49-F238E27FC236}">
                    <a16:creationId xmlns:a16="http://schemas.microsoft.com/office/drawing/2014/main" id="{D983973D-B7C2-EB7E-9AB9-AEABF08543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3873" y="3007704"/>
                <a:ext cx="607320" cy="22248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kstfelt 21">
            <a:extLst>
              <a:ext uri="{FF2B5EF4-FFF2-40B4-BE49-F238E27FC236}">
                <a16:creationId xmlns:a16="http://schemas.microsoft.com/office/drawing/2014/main" id="{BBE4B0BF-F8B2-0F58-2A1F-C37D419C30F3}"/>
              </a:ext>
            </a:extLst>
          </p:cNvPr>
          <p:cNvSpPr txBox="1"/>
          <p:nvPr/>
        </p:nvSpPr>
        <p:spPr>
          <a:xfrm>
            <a:off x="12901" y="2841038"/>
            <a:ext cx="191033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/>
              <a:t>Unphysically thin object:</a:t>
            </a:r>
          </a:p>
          <a:p>
            <a:pPr algn="l"/>
            <a:r>
              <a:rPr lang="en-US" sz="1200" dirty="0"/>
              <a:t>   </a:t>
            </a:r>
            <a:r>
              <a:rPr lang="en-US" sz="1200" dirty="0" err="1"/>
              <a:t>Volume_body</a:t>
            </a:r>
            <a:r>
              <a:rPr lang="en-US" sz="1200" dirty="0"/>
              <a:t>=4.3e-5 m^3</a:t>
            </a:r>
          </a:p>
        </p:txBody>
      </p:sp>
    </p:spTree>
    <p:extLst>
      <p:ext uri="{BB962C8B-B14F-4D97-AF65-F5344CB8AC3E}">
        <p14:creationId xmlns:p14="http://schemas.microsoft.com/office/powerpoint/2010/main" val="150070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9802-2113-3D20-1341-24E2A1C7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E9244-5A97-7853-7F3A-905D9AE7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25210"/>
            <a:ext cx="11784013" cy="1065742"/>
          </a:xfrm>
        </p:spPr>
        <p:txBody>
          <a:bodyPr/>
          <a:lstStyle/>
          <a:p>
            <a:r>
              <a:rPr lang="en-US" dirty="0"/>
              <a:t>Benchmark: 6L2 sub-objects </a:t>
            </a:r>
            <a:r>
              <a:rPr lang="en-US" sz="1600" b="0" dirty="0"/>
              <a:t>(high grid resolutions added; till </a:t>
            </a:r>
            <a:r>
              <a:rPr lang="en-US" sz="1600" dirty="0"/>
              <a:t>N=450 ~ 91e6 grid points </a:t>
            </a:r>
            <a:r>
              <a:rPr lang="en-US" sz="1600" b="0" dirty="0"/>
              <a:t>)</a:t>
            </a:r>
            <a:endParaRPr lang="en-US" b="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911D891-B8BB-B2E1-82AC-8B33DA54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0E21602-97A9-454B-837F-33880CA3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916BA1-27CF-462D-2B02-CFBD618B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Billede 7" descr="Et billede, der indeholder diagram, linje/række, tekst, Kurve&#10;&#10;Automatisk genereret beskrivelse">
            <a:extLst>
              <a:ext uri="{FF2B5EF4-FFF2-40B4-BE49-F238E27FC236}">
                <a16:creationId xmlns:a16="http://schemas.microsoft.com/office/drawing/2014/main" id="{59485B20-225C-415A-1841-4DC55551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226" y="620688"/>
            <a:ext cx="9293898" cy="615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4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EA9C5-9DE9-D682-E49A-9DC72868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E8CCA-18F7-4A7A-D27E-813B9E11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25210"/>
            <a:ext cx="11784013" cy="1065742"/>
          </a:xfrm>
        </p:spPr>
        <p:txBody>
          <a:bodyPr/>
          <a:lstStyle/>
          <a:p>
            <a:r>
              <a:rPr lang="en-US" sz="2800" dirty="0"/>
              <a:t>Simulation benchmarks to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CST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1"/>
                </a:solidFill>
              </a:rPr>
              <a:t>&amp; </a:t>
            </a:r>
            <a:r>
              <a:rPr lang="en-US" sz="2800" dirty="0">
                <a:solidFill>
                  <a:schemeClr val="accent1"/>
                </a:solidFill>
                <a:highlight>
                  <a:srgbClr val="D4EBFF"/>
                </a:highlight>
              </a:rPr>
              <a:t>the current </a:t>
            </a:r>
            <a:r>
              <a:rPr lang="en-US" sz="2800" dirty="0" err="1">
                <a:solidFill>
                  <a:schemeClr val="accent1"/>
                </a:solidFill>
                <a:highlight>
                  <a:srgbClr val="D4EBFF"/>
                </a:highlight>
              </a:rPr>
              <a:t>Wakis</a:t>
            </a:r>
            <a:r>
              <a:rPr lang="en-US" sz="2800" dirty="0">
                <a:solidFill>
                  <a:schemeClr val="accent1"/>
                </a:solidFill>
                <a:highlight>
                  <a:srgbClr val="D4EBFF"/>
                </a:highlight>
              </a:rPr>
              <a:t> version 0.7.0 </a:t>
            </a:r>
            <a:r>
              <a:rPr lang="en-US" sz="2800" dirty="0">
                <a:solidFill>
                  <a:schemeClr val="accent1"/>
                </a:solidFill>
              </a:rPr>
              <a:t>:        </a:t>
            </a:r>
            <a:r>
              <a:rPr lang="en-US" sz="2800" b="0" dirty="0">
                <a:solidFill>
                  <a:schemeClr val="accent1"/>
                </a:solidFill>
              </a:rPr>
              <a:t> </a:t>
            </a:r>
            <a:br>
              <a:rPr lang="en-US" sz="2800" b="0" dirty="0">
                <a:solidFill>
                  <a:schemeClr val="accent1"/>
                </a:solidFill>
              </a:rPr>
            </a:br>
            <a:r>
              <a:rPr lang="en-US" sz="2800" b="0" dirty="0"/>
              <a:t>                                    The simple shell cavity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1F9251C-756C-5F21-984B-736F07B7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E4ABE19-4BFD-C9BE-4FAA-B4319B4B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9703DAB-4C22-3950-8C6B-D5BC7AAC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Billede 6" descr="Et billede, der indeholder tekst, Parallel, nummer/tal, linje/række&#10;&#10;Automatisk genereret beskrivelse">
            <a:extLst>
              <a:ext uri="{FF2B5EF4-FFF2-40B4-BE49-F238E27FC236}">
                <a16:creationId xmlns:a16="http://schemas.microsoft.com/office/drawing/2014/main" id="{097397D9-83DE-BF4D-C5E2-B499FCD27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4" b="30936"/>
          <a:stretch/>
        </p:blipFill>
        <p:spPr>
          <a:xfrm>
            <a:off x="6147695" y="1124744"/>
            <a:ext cx="6044306" cy="4878953"/>
          </a:xfrm>
          <a:prstGeom prst="rect">
            <a:avLst/>
          </a:prstGeom>
        </p:spPr>
      </p:pic>
      <p:pic>
        <p:nvPicPr>
          <p:cNvPr id="10" name="Billede 9" descr="Et billede, der indeholder tekst, diagram, linje/række, Kurve&#10;&#10;Automatisk genereret beskrivelse">
            <a:extLst>
              <a:ext uri="{FF2B5EF4-FFF2-40B4-BE49-F238E27FC236}">
                <a16:creationId xmlns:a16="http://schemas.microsoft.com/office/drawing/2014/main" id="{90FDC2DA-EB49-C245-748F-9B6A69B05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30" b="30900"/>
          <a:stretch/>
        </p:blipFill>
        <p:spPr>
          <a:xfrm>
            <a:off x="51693" y="1124744"/>
            <a:ext cx="6044307" cy="4878953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9049B671-94FA-46B8-23EC-CD504B684535}"/>
              </a:ext>
            </a:extLst>
          </p:cNvPr>
          <p:cNvSpPr txBox="1"/>
          <p:nvPr/>
        </p:nvSpPr>
        <p:spPr>
          <a:xfrm>
            <a:off x="2129263" y="971599"/>
            <a:ext cx="295232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/>
              <a:t>Longitudinal Impedance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97DECEC7-731A-E92B-D891-B88A9636407B}"/>
              </a:ext>
            </a:extLst>
          </p:cNvPr>
          <p:cNvSpPr txBox="1"/>
          <p:nvPr/>
        </p:nvSpPr>
        <p:spPr>
          <a:xfrm>
            <a:off x="8544273" y="965448"/>
            <a:ext cx="187220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Wake potential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Håndskrift 12">
                <a:extLst>
                  <a:ext uri="{FF2B5EF4-FFF2-40B4-BE49-F238E27FC236}">
                    <a16:creationId xmlns:a16="http://schemas.microsoft.com/office/drawing/2014/main" id="{923617D7-A07E-7E87-3C05-178170739FE4}"/>
                  </a:ext>
                </a:extLst>
              </p14:cNvPr>
              <p14:cNvContentPartPr/>
              <p14:nvPr/>
            </p14:nvContentPartPr>
            <p14:xfrm>
              <a:off x="-815927" y="921144"/>
              <a:ext cx="360" cy="360"/>
            </p14:xfrm>
          </p:contentPart>
        </mc:Choice>
        <mc:Fallback xmlns="">
          <p:pic>
            <p:nvPicPr>
              <p:cNvPr id="13" name="Håndskrift 12">
                <a:extLst>
                  <a:ext uri="{FF2B5EF4-FFF2-40B4-BE49-F238E27FC236}">
                    <a16:creationId xmlns:a16="http://schemas.microsoft.com/office/drawing/2014/main" id="{923617D7-A07E-7E87-3C05-178170739F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51567" y="849144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Håndskrift 16">
                <a:extLst>
                  <a:ext uri="{FF2B5EF4-FFF2-40B4-BE49-F238E27FC236}">
                    <a16:creationId xmlns:a16="http://schemas.microsoft.com/office/drawing/2014/main" id="{8E37F2FF-1FFC-6484-1B82-804BF59125D8}"/>
                  </a:ext>
                </a:extLst>
              </p14:cNvPr>
              <p14:cNvContentPartPr/>
              <p14:nvPr/>
            </p14:nvContentPartPr>
            <p14:xfrm>
              <a:off x="94153" y="2442504"/>
              <a:ext cx="12129480" cy="141840"/>
            </p14:xfrm>
          </p:contentPart>
        </mc:Choice>
        <mc:Fallback xmlns="">
          <p:pic>
            <p:nvPicPr>
              <p:cNvPr id="17" name="Håndskrift 16">
                <a:extLst>
                  <a:ext uri="{FF2B5EF4-FFF2-40B4-BE49-F238E27FC236}">
                    <a16:creationId xmlns:a16="http://schemas.microsoft.com/office/drawing/2014/main" id="{8E37F2FF-1FFC-6484-1B82-804BF59125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3" y="2370864"/>
                <a:ext cx="122011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CC5C7D99-2876-0C9F-866C-11381DF4CBE0}"/>
                  </a:ext>
                </a:extLst>
              </p14:cNvPr>
              <p14:cNvContentPartPr/>
              <p14:nvPr/>
            </p14:nvContentPartPr>
            <p14:xfrm>
              <a:off x="34033" y="3518544"/>
              <a:ext cx="12180240" cy="201240"/>
            </p14:xfrm>
          </p:contentPart>
        </mc:Choice>
        <mc:Fallback xmlns=""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CC5C7D99-2876-0C9F-866C-11381DF4C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967" y="3446904"/>
                <a:ext cx="122518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40379907-A455-7914-5C84-7D74F614FE6F}"/>
                  </a:ext>
                </a:extLst>
              </p14:cNvPr>
              <p14:cNvContentPartPr/>
              <p14:nvPr/>
            </p14:nvContentPartPr>
            <p14:xfrm>
              <a:off x="12117073" y="2539704"/>
              <a:ext cx="54000" cy="99756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40379907-A455-7914-5C84-7D74F614FE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81073" y="2467704"/>
                <a:ext cx="125640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Håndskrift 20">
                <a:extLst>
                  <a:ext uri="{FF2B5EF4-FFF2-40B4-BE49-F238E27FC236}">
                    <a16:creationId xmlns:a16="http://schemas.microsoft.com/office/drawing/2014/main" id="{4FD7C040-AB6B-4BC8-1694-9B6EBBEE0411}"/>
                  </a:ext>
                </a:extLst>
              </p14:cNvPr>
              <p14:cNvContentPartPr/>
              <p14:nvPr/>
            </p14:nvContentPartPr>
            <p14:xfrm>
              <a:off x="-39047" y="2530344"/>
              <a:ext cx="86040" cy="1044720"/>
            </p14:xfrm>
          </p:contentPart>
        </mc:Choice>
        <mc:Fallback xmlns="">
          <p:pic>
            <p:nvPicPr>
              <p:cNvPr id="21" name="Håndskrift 20">
                <a:extLst>
                  <a:ext uri="{FF2B5EF4-FFF2-40B4-BE49-F238E27FC236}">
                    <a16:creationId xmlns:a16="http://schemas.microsoft.com/office/drawing/2014/main" id="{4FD7C040-AB6B-4BC8-1694-9B6EBBEE04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75047" y="2458344"/>
                <a:ext cx="157680" cy="11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Håndskrift 23">
                <a:extLst>
                  <a:ext uri="{FF2B5EF4-FFF2-40B4-BE49-F238E27FC236}">
                    <a16:creationId xmlns:a16="http://schemas.microsoft.com/office/drawing/2014/main" id="{3FCF3418-B353-5E17-B6D8-D0EFB7931A15}"/>
                  </a:ext>
                </a:extLst>
              </p14:cNvPr>
              <p14:cNvContentPartPr/>
              <p14:nvPr/>
            </p14:nvContentPartPr>
            <p14:xfrm>
              <a:off x="2226793" y="1532784"/>
              <a:ext cx="721440" cy="688320"/>
            </p14:xfrm>
          </p:contentPart>
        </mc:Choice>
        <mc:Fallback xmlns="">
          <p:pic>
            <p:nvPicPr>
              <p:cNvPr id="24" name="Håndskrift 23">
                <a:extLst>
                  <a:ext uri="{FF2B5EF4-FFF2-40B4-BE49-F238E27FC236}">
                    <a16:creationId xmlns:a16="http://schemas.microsoft.com/office/drawing/2014/main" id="{3FCF3418-B353-5E17-B6D8-D0EFB7931A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18153" y="1524144"/>
                <a:ext cx="739080" cy="7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Håndskrift 24">
                <a:extLst>
                  <a:ext uri="{FF2B5EF4-FFF2-40B4-BE49-F238E27FC236}">
                    <a16:creationId xmlns:a16="http://schemas.microsoft.com/office/drawing/2014/main" id="{25FBD07C-34D2-AC7B-A179-5E66998258DE}"/>
                  </a:ext>
                </a:extLst>
              </p14:cNvPr>
              <p14:cNvContentPartPr/>
              <p14:nvPr/>
            </p14:nvContentPartPr>
            <p14:xfrm>
              <a:off x="2226073" y="4999584"/>
              <a:ext cx="627840" cy="749520"/>
            </p14:xfrm>
          </p:contentPart>
        </mc:Choice>
        <mc:Fallback xmlns="">
          <p:pic>
            <p:nvPicPr>
              <p:cNvPr id="25" name="Håndskrift 24">
                <a:extLst>
                  <a:ext uri="{FF2B5EF4-FFF2-40B4-BE49-F238E27FC236}">
                    <a16:creationId xmlns:a16="http://schemas.microsoft.com/office/drawing/2014/main" id="{25FBD07C-34D2-AC7B-A179-5E66998258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17433" y="4990584"/>
                <a:ext cx="645480" cy="7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Håndskrift 25">
                <a:extLst>
                  <a:ext uri="{FF2B5EF4-FFF2-40B4-BE49-F238E27FC236}">
                    <a16:creationId xmlns:a16="http://schemas.microsoft.com/office/drawing/2014/main" id="{DE73F706-2F74-5A33-2399-D25C4CB5CF14}"/>
                  </a:ext>
                </a:extLst>
              </p14:cNvPr>
              <p14:cNvContentPartPr/>
              <p14:nvPr/>
            </p14:nvContentPartPr>
            <p14:xfrm>
              <a:off x="2277913" y="3963864"/>
              <a:ext cx="522720" cy="678240"/>
            </p14:xfrm>
          </p:contentPart>
        </mc:Choice>
        <mc:Fallback xmlns="">
          <p:pic>
            <p:nvPicPr>
              <p:cNvPr id="26" name="Håndskrift 25">
                <a:extLst>
                  <a:ext uri="{FF2B5EF4-FFF2-40B4-BE49-F238E27FC236}">
                    <a16:creationId xmlns:a16="http://schemas.microsoft.com/office/drawing/2014/main" id="{DE73F706-2F74-5A33-2399-D25C4CB5CF1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69273" y="3954864"/>
                <a:ext cx="540360" cy="6958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kstfelt 26">
            <a:extLst>
              <a:ext uri="{FF2B5EF4-FFF2-40B4-BE49-F238E27FC236}">
                <a16:creationId xmlns:a16="http://schemas.microsoft.com/office/drawing/2014/main" id="{11BCB021-1391-8E29-AC46-D008BC7AA950}"/>
              </a:ext>
            </a:extLst>
          </p:cNvPr>
          <p:cNvSpPr txBox="1"/>
          <p:nvPr/>
        </p:nvSpPr>
        <p:spPr>
          <a:xfrm>
            <a:off x="263352" y="6064843"/>
            <a:ext cx="591187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i="1" dirty="0">
                <a:solidFill>
                  <a:srgbClr val="FF0000"/>
                </a:solidFill>
                <a:latin typeface="Helvetica" pitchFamily="2" charset="0"/>
              </a:rPr>
              <a:t>We see mode shifts for all the new methods -&gt; new mask = new object geometry, </a:t>
            </a:r>
            <a:r>
              <a:rPr lang="en-US" sz="1100" b="1" i="1" dirty="0">
                <a:solidFill>
                  <a:srgbClr val="FF0000"/>
                </a:solidFill>
                <a:latin typeface="Helvetica" pitchFamily="2" charset="0"/>
              </a:rPr>
              <a:t>inner radius</a:t>
            </a:r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379812BC-8483-ED31-4AA8-1BF066B7F9FE}"/>
              </a:ext>
            </a:extLst>
          </p:cNvPr>
          <p:cNvSpPr txBox="1"/>
          <p:nvPr/>
        </p:nvSpPr>
        <p:spPr>
          <a:xfrm>
            <a:off x="6472212" y="6055271"/>
            <a:ext cx="526105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i="1" dirty="0" err="1">
                <a:solidFill>
                  <a:srgbClr val="FF0000"/>
                </a:solidFill>
                <a:latin typeface="Helvetica" pitchFamily="2" charset="0"/>
              </a:rPr>
              <a:t>Interior_points</a:t>
            </a:r>
            <a:r>
              <a:rPr lang="en-US" sz="1200" i="1" dirty="0">
                <a:solidFill>
                  <a:srgbClr val="FF0000"/>
                </a:solidFill>
                <a:latin typeface="Helvetica" pitchFamily="2" charset="0"/>
              </a:rPr>
              <a:t> method under-masks -&gt; shell mask too thin -&gt; </a:t>
            </a:r>
            <a:r>
              <a:rPr lang="en-US" sz="1200" b="1" i="1" dirty="0">
                <a:solidFill>
                  <a:srgbClr val="FF0000"/>
                </a:solidFill>
                <a:latin typeface="Helvetica" pitchFamily="2" charset="0"/>
              </a:rPr>
              <a:t>conductivity</a:t>
            </a:r>
          </a:p>
        </p:txBody>
      </p:sp>
      <p:grpSp>
        <p:nvGrpSpPr>
          <p:cNvPr id="33" name="Gruppe 32">
            <a:extLst>
              <a:ext uri="{FF2B5EF4-FFF2-40B4-BE49-F238E27FC236}">
                <a16:creationId xmlns:a16="http://schemas.microsoft.com/office/drawing/2014/main" id="{EBB0C552-EDD7-C2BA-2716-152F52662568}"/>
              </a:ext>
            </a:extLst>
          </p:cNvPr>
          <p:cNvGrpSpPr/>
          <p:nvPr/>
        </p:nvGrpSpPr>
        <p:grpSpPr>
          <a:xfrm>
            <a:off x="6655513" y="3870984"/>
            <a:ext cx="4097520" cy="783000"/>
            <a:chOff x="6655513" y="3870984"/>
            <a:chExt cx="4097520" cy="78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Håndskrift 29">
                  <a:extLst>
                    <a:ext uri="{FF2B5EF4-FFF2-40B4-BE49-F238E27FC236}">
                      <a16:creationId xmlns:a16="http://schemas.microsoft.com/office/drawing/2014/main" id="{EE384079-E831-0099-FD8F-EFC23BC060D9}"/>
                    </a:ext>
                  </a:extLst>
                </p14:cNvPr>
                <p14:cNvContentPartPr/>
                <p14:nvPr/>
              </p14:nvContentPartPr>
              <p14:xfrm>
                <a:off x="6655513" y="3870984"/>
                <a:ext cx="1626840" cy="703800"/>
              </p14:xfrm>
            </p:contentPart>
          </mc:Choice>
          <mc:Fallback xmlns="">
            <p:pic>
              <p:nvPicPr>
                <p:cNvPr id="30" name="Håndskrift 29">
                  <a:extLst>
                    <a:ext uri="{FF2B5EF4-FFF2-40B4-BE49-F238E27FC236}">
                      <a16:creationId xmlns:a16="http://schemas.microsoft.com/office/drawing/2014/main" id="{EE384079-E831-0099-FD8F-EFC23BC060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46873" y="3861984"/>
                  <a:ext cx="164448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Håndskrift 30">
                  <a:extLst>
                    <a:ext uri="{FF2B5EF4-FFF2-40B4-BE49-F238E27FC236}">
                      <a16:creationId xmlns:a16="http://schemas.microsoft.com/office/drawing/2014/main" id="{33569540-5230-FA15-7471-B55258160C68}"/>
                    </a:ext>
                  </a:extLst>
                </p14:cNvPr>
                <p14:cNvContentPartPr/>
                <p14:nvPr/>
              </p14:nvContentPartPr>
              <p14:xfrm>
                <a:off x="9639913" y="3905904"/>
                <a:ext cx="1113120" cy="748080"/>
              </p14:xfrm>
            </p:contentPart>
          </mc:Choice>
          <mc:Fallback xmlns="">
            <p:pic>
              <p:nvPicPr>
                <p:cNvPr id="31" name="Håndskrift 30">
                  <a:extLst>
                    <a:ext uri="{FF2B5EF4-FFF2-40B4-BE49-F238E27FC236}">
                      <a16:creationId xmlns:a16="http://schemas.microsoft.com/office/drawing/2014/main" id="{33569540-5230-FA15-7471-B55258160C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31273" y="3896904"/>
                  <a:ext cx="1130760" cy="76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4572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BEFF1-A115-8A68-9D66-300065E1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14526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Comparing the mask slices from these simulations</a:t>
            </a:r>
          </a:p>
        </p:txBody>
      </p:sp>
      <p:pic>
        <p:nvPicPr>
          <p:cNvPr id="15" name="Pladsholder til indhold 14" descr="Et billede, der indeholder skærmbillede, Grafik, cirkel, Farverigt&#10;&#10;Automatisk genereret beskrivelse">
            <a:extLst>
              <a:ext uri="{FF2B5EF4-FFF2-40B4-BE49-F238E27FC236}">
                <a16:creationId xmlns:a16="http://schemas.microsoft.com/office/drawing/2014/main" id="{72B4BD94-7B7D-EA52-A6D9-38730EA965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-1964431" y="522895"/>
            <a:ext cx="7772399" cy="3194137"/>
          </a:xfrm>
        </p:spPr>
      </p:pic>
      <p:pic>
        <p:nvPicPr>
          <p:cNvPr id="19" name="Pladsholder til indhold 18" descr="Et billede, der indeholder skærmbillede, Grafik, Farverigt, diagram&#10;&#10;Automatisk genereret beskrivelse">
            <a:extLst>
              <a:ext uri="{FF2B5EF4-FFF2-40B4-BE49-F238E27FC236}">
                <a16:creationId xmlns:a16="http://schemas.microsoft.com/office/drawing/2014/main" id="{00BFDA0A-DD84-1916-8C52-36D049F7F7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l="17300"/>
          <a:stretch/>
        </p:blipFill>
        <p:spPr>
          <a:xfrm>
            <a:off x="5786106" y="522895"/>
            <a:ext cx="6427787" cy="3194137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305B432-21FB-E912-0C7B-8083C985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336" y="6378349"/>
            <a:ext cx="16207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C59C3C-3539-0F4E-8F5B-F97EBD723FC3}" type="datetime1">
              <a:rPr lang="de-CH" smtClean="0"/>
              <a:pPr>
                <a:spcAft>
                  <a:spcPts val="600"/>
                </a:spcAft>
              </a:pPr>
              <a:t>20.05.26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1DA4177-C71A-7271-6452-6A0746AC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59263" y="6378349"/>
            <a:ext cx="428501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Presenter | Presentation Title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2F5CB71-A44E-5648-7973-25DFADB0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46" y="6378349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24" name="Billede 23" descr="Et billede, der indeholder skærmbillede, Grafik, cirkel, grafisk design&#10;&#10;Automatisk genereret beskrivelse">
            <a:extLst>
              <a:ext uri="{FF2B5EF4-FFF2-40B4-BE49-F238E27FC236}">
                <a16:creationId xmlns:a16="http://schemas.microsoft.com/office/drawing/2014/main" id="{7DB213D3-B4A4-F6C6-3F7C-44E7764E53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00" t="13472"/>
          <a:stretch/>
        </p:blipFill>
        <p:spPr>
          <a:xfrm>
            <a:off x="5764212" y="3979662"/>
            <a:ext cx="6427787" cy="2763812"/>
          </a:xfrm>
          <a:prstGeom prst="rect">
            <a:avLst/>
          </a:prstGeom>
        </p:spPr>
      </p:pic>
      <p:pic>
        <p:nvPicPr>
          <p:cNvPr id="21" name="Billede 20" descr="Et billede, der indeholder skærmbillede, Grafik, cirkel, Farverigt&#10;&#10;Automatisk genereret beskrivelse">
            <a:extLst>
              <a:ext uri="{FF2B5EF4-FFF2-40B4-BE49-F238E27FC236}">
                <a16:creationId xmlns:a16="http://schemas.microsoft.com/office/drawing/2014/main" id="{6B4F596C-4F29-60C3-9236-50BA79BECC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593" t="13472"/>
          <a:stretch/>
        </p:blipFill>
        <p:spPr>
          <a:xfrm>
            <a:off x="-96688" y="3979663"/>
            <a:ext cx="5860901" cy="2763811"/>
          </a:xfrm>
          <a:prstGeom prst="rect">
            <a:avLst/>
          </a:prstGeom>
        </p:spPr>
      </p:pic>
      <p:sp>
        <p:nvSpPr>
          <p:cNvPr id="26" name="Tekstfelt 25">
            <a:extLst>
              <a:ext uri="{FF2B5EF4-FFF2-40B4-BE49-F238E27FC236}">
                <a16:creationId xmlns:a16="http://schemas.microsoft.com/office/drawing/2014/main" id="{F3713BC3-A548-D532-230B-E6FC2C64CBBF}"/>
              </a:ext>
            </a:extLst>
          </p:cNvPr>
          <p:cNvSpPr txBox="1"/>
          <p:nvPr/>
        </p:nvSpPr>
        <p:spPr>
          <a:xfrm>
            <a:off x="315325" y="738919"/>
            <a:ext cx="445775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Select_enclosed_points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() w. threshold=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stl_tolerance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6D4D20A6-ABAF-67AD-8B06-0C3F8B2A53A1}"/>
              </a:ext>
            </a:extLst>
          </p:cNvPr>
          <p:cNvSpPr txBox="1"/>
          <p:nvPr/>
        </p:nvSpPr>
        <p:spPr>
          <a:xfrm>
            <a:off x="6425267" y="738919"/>
            <a:ext cx="34462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Select_interior_points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() w. threshold=0.5</a:t>
            </a:r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9393907C-E85D-1082-00F3-74FE58E18ACB}"/>
              </a:ext>
            </a:extLst>
          </p:cNvPr>
          <p:cNvSpPr txBox="1"/>
          <p:nvPr/>
        </p:nvSpPr>
        <p:spPr>
          <a:xfrm>
            <a:off x="6333209" y="3823019"/>
            <a:ext cx="17773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Voxelize_rectilinear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()</a:t>
            </a: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3FA4278D-BCB9-E5E2-C091-F0F66CF2E5CC}"/>
              </a:ext>
            </a:extLst>
          </p:cNvPr>
          <p:cNvSpPr txBox="1"/>
          <p:nvPr/>
        </p:nvSpPr>
        <p:spPr>
          <a:xfrm>
            <a:off x="408295" y="3726504"/>
            <a:ext cx="16687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Implicit_distances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elvetica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9509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78FE81-1988-D98C-CF64-2F21541F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9ABC920-4F2B-804F-4F39-BB331036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CFD5DD45-8622-282A-029A-31506679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E9BAE50-A6F5-34CB-9817-10808D02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Billede 6" descr="Et billede, der indeholder tekst, Parallel, nummer/tal, linje/række&#10;&#10;Automatisk genereret beskrivelse">
            <a:extLst>
              <a:ext uri="{FF2B5EF4-FFF2-40B4-BE49-F238E27FC236}">
                <a16:creationId xmlns:a16="http://schemas.microsoft.com/office/drawing/2014/main" id="{880A6975-5FF2-3450-9F1B-83CE8B30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70" y="0"/>
            <a:ext cx="5562422" cy="6858000"/>
          </a:xfrm>
          <a:prstGeom prst="rect">
            <a:avLst/>
          </a:prstGeom>
        </p:spPr>
      </p:pic>
      <p:pic>
        <p:nvPicPr>
          <p:cNvPr id="8" name="Billede 7" descr="Et billede, der indeholder tekst, diagram, linje/række, Kurve&#10;&#10;Automatisk genereret beskrivelse">
            <a:extLst>
              <a:ext uri="{FF2B5EF4-FFF2-40B4-BE49-F238E27FC236}">
                <a16:creationId xmlns:a16="http://schemas.microsoft.com/office/drawing/2014/main" id="{6D50398E-7518-C653-3C26-6D7885F2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6" y="0"/>
            <a:ext cx="5562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0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2AB4-0E07-FCAA-C680-AA8982C7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CCC2E-78F5-A822-8E85-2048F997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6" y="114526"/>
            <a:ext cx="11376025" cy="1065742"/>
          </a:xfrm>
        </p:spPr>
        <p:txBody>
          <a:bodyPr/>
          <a:lstStyle/>
          <a:p>
            <a:r>
              <a:rPr lang="en-US" dirty="0"/>
              <a:t>STL Decimation benchmark: </a:t>
            </a:r>
            <a:r>
              <a:rPr lang="en-US" sz="2800" dirty="0"/>
              <a:t>how reducing the STL structure, and hereby computation time, influence the mask quality</a:t>
            </a:r>
            <a:endParaRPr lang="en-US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937863A-F43F-E1A2-2986-83459816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F07E251-DB55-175C-FA75-F792BE7E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724CDD6-1E6F-0A35-EAED-11F3D5CB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Billede 9" descr="Et billede, der indeholder linje/række, diagram, Kurve, tekst&#10;&#10;Automatisk genereret beskrivelse">
            <a:extLst>
              <a:ext uri="{FF2B5EF4-FFF2-40B4-BE49-F238E27FC236}">
                <a16:creationId xmlns:a16="http://schemas.microsoft.com/office/drawing/2014/main" id="{03FA8BCD-5E17-10E5-01FF-0512D495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79" y="1124744"/>
            <a:ext cx="11089441" cy="48245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CC188743-689C-B93E-B279-F8C6D8433ECA}"/>
                  </a:ext>
                </a:extLst>
              </p14:cNvPr>
              <p14:cNvContentPartPr/>
              <p14:nvPr/>
            </p14:nvContentPartPr>
            <p14:xfrm>
              <a:off x="9039433" y="3486504"/>
              <a:ext cx="1326960" cy="741600"/>
            </p14:xfrm>
          </p:contentPart>
        </mc:Choice>
        <mc:Fallback xmlns=""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CC188743-689C-B93E-B279-F8C6D8433E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0433" y="3477504"/>
                <a:ext cx="134460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0609BA47-2539-6A57-1292-B0479765B621}"/>
                  </a:ext>
                </a:extLst>
              </p14:cNvPr>
              <p14:cNvContentPartPr/>
              <p14:nvPr/>
            </p14:nvContentPartPr>
            <p14:xfrm>
              <a:off x="3269713" y="3771984"/>
              <a:ext cx="1015560" cy="58896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0609BA47-2539-6A57-1292-B0479765B6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0713" y="3763344"/>
                <a:ext cx="103320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Håndskrift 7">
                <a:extLst>
                  <a:ext uri="{FF2B5EF4-FFF2-40B4-BE49-F238E27FC236}">
                    <a16:creationId xmlns:a16="http://schemas.microsoft.com/office/drawing/2014/main" id="{7F59194A-5463-CE10-7097-21F8FFDFE4E2}"/>
                  </a:ext>
                </a:extLst>
              </p14:cNvPr>
              <p14:cNvContentPartPr/>
              <p14:nvPr/>
            </p14:nvContentPartPr>
            <p14:xfrm>
              <a:off x="6743713" y="5366064"/>
              <a:ext cx="321480" cy="3960"/>
            </p14:xfrm>
          </p:contentPart>
        </mc:Choice>
        <mc:Fallback xmlns="">
          <p:pic>
            <p:nvPicPr>
              <p:cNvPr id="8" name="Håndskrift 7">
                <a:extLst>
                  <a:ext uri="{FF2B5EF4-FFF2-40B4-BE49-F238E27FC236}">
                    <a16:creationId xmlns:a16="http://schemas.microsoft.com/office/drawing/2014/main" id="{7F59194A-5463-CE10-7097-21F8FFDFE4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34713" y="5357424"/>
                <a:ext cx="3391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5A28DE22-55A4-5DA0-42B6-DC5E3DECFD3B}"/>
                  </a:ext>
                </a:extLst>
              </p14:cNvPr>
              <p14:cNvContentPartPr/>
              <p14:nvPr/>
            </p14:nvContentPartPr>
            <p14:xfrm>
              <a:off x="6870793" y="3924984"/>
              <a:ext cx="201960" cy="1764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5A28DE22-55A4-5DA0-42B6-DC5E3DECFD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61793" y="3915984"/>
                <a:ext cx="2196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Håndskrift 10">
                <a:extLst>
                  <a:ext uri="{FF2B5EF4-FFF2-40B4-BE49-F238E27FC236}">
                    <a16:creationId xmlns:a16="http://schemas.microsoft.com/office/drawing/2014/main" id="{DE70EAC0-C5C5-067C-C6AF-99DE7B472D86}"/>
                  </a:ext>
                </a:extLst>
              </p14:cNvPr>
              <p14:cNvContentPartPr/>
              <p14:nvPr/>
            </p14:nvContentPartPr>
            <p14:xfrm>
              <a:off x="1280713" y="4333584"/>
              <a:ext cx="242280" cy="38520"/>
            </p14:xfrm>
          </p:contentPart>
        </mc:Choice>
        <mc:Fallback xmlns="">
          <p:pic>
            <p:nvPicPr>
              <p:cNvPr id="11" name="Håndskrift 10">
                <a:extLst>
                  <a:ext uri="{FF2B5EF4-FFF2-40B4-BE49-F238E27FC236}">
                    <a16:creationId xmlns:a16="http://schemas.microsoft.com/office/drawing/2014/main" id="{DE70EAC0-C5C5-067C-C6AF-99DE7B472D8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2073" y="4324944"/>
                <a:ext cx="2599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1C874BB8-2A30-C7FE-43FD-68EDA3C213C9}"/>
                  </a:ext>
                </a:extLst>
              </p14:cNvPr>
              <p14:cNvContentPartPr/>
              <p14:nvPr/>
            </p14:nvContentPartPr>
            <p14:xfrm>
              <a:off x="1277113" y="1777584"/>
              <a:ext cx="294840" cy="29160"/>
            </p14:xfrm>
          </p:contentPart>
        </mc:Choice>
        <mc:Fallback xmlns=""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1C874BB8-2A30-C7FE-43FD-68EDA3C213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8473" y="1768944"/>
                <a:ext cx="312480" cy="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71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1789E-BAB3-A563-BDC9-913BCF7B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Decimate_pro</a:t>
            </a:r>
            <a:r>
              <a:rPr lang="en-US" dirty="0"/>
              <a:t>(0.80): </a:t>
            </a:r>
            <a:r>
              <a:rPr lang="en-US" b="0" dirty="0"/>
              <a:t>reducing 80% of STL cells 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B1B51C1-B111-DA19-9171-858B5A8A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B25793D-788A-99B9-C6AE-5D225BE9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8C48267-1EC5-78F7-06A3-EF71F118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Billede 11" descr="Et billede, der indeholder linje/række, diagram, Kurve, Parallel&#10;&#10;Automatisk genereret beskrivelse">
            <a:extLst>
              <a:ext uri="{FF2B5EF4-FFF2-40B4-BE49-F238E27FC236}">
                <a16:creationId xmlns:a16="http://schemas.microsoft.com/office/drawing/2014/main" id="{CCB7ED9C-9C1B-2FA4-1518-EDE1D547B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3" y="906464"/>
            <a:ext cx="8052983" cy="533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7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56D99AC-AE92-E06B-D067-20775B05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6548C22-3FFE-9A68-BA3C-44F6C96F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BD73E24-AE55-CDF7-499D-C882F2D4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Billede 6" descr="Et billede, der indeholder linje/række, diagram, Kurve&#10;&#10;Automatisk genereret beskrivelse">
            <a:extLst>
              <a:ext uri="{FF2B5EF4-FFF2-40B4-BE49-F238E27FC236}">
                <a16:creationId xmlns:a16="http://schemas.microsoft.com/office/drawing/2014/main" id="{16E787F1-9EB1-A15F-0B0B-54B92A31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797433"/>
            <a:ext cx="11280576" cy="55809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0D7D5F3-DE84-2CFD-9EA3-DD008D17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112331"/>
            <a:ext cx="11376025" cy="1065742"/>
          </a:xfrm>
        </p:spPr>
        <p:txBody>
          <a:bodyPr/>
          <a:lstStyle/>
          <a:p>
            <a:r>
              <a:rPr lang="en-US" sz="2800" dirty="0"/>
              <a:t>Benchmarked to the 6L2 mask volume results </a:t>
            </a:r>
            <a:r>
              <a:rPr lang="en-US" sz="2400" b="0" dirty="0"/>
              <a:t>(slide 5): </a:t>
            </a:r>
            <a:br>
              <a:rPr lang="en-US" sz="2400" b="0" dirty="0"/>
            </a:br>
            <a:r>
              <a:rPr lang="en-US" sz="2000" b="0" dirty="0"/>
              <a:t>findings= decimate 80 does not seem to reduce quality of the </a:t>
            </a:r>
            <a:r>
              <a:rPr lang="en-US" sz="2000" b="0" dirty="0" err="1"/>
              <a:t>voxelize_rectilinear</a:t>
            </a:r>
            <a:r>
              <a:rPr lang="en-US" sz="2000" b="0" dirty="0"/>
              <a:t> meshing method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86404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5037-5004-8971-1DCD-B27ECCF0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A44E7-B999-3C33-20E8-106E7AB0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times of the meshing algorithms </a:t>
            </a:r>
            <a:r>
              <a:rPr lang="en-US" b="0" dirty="0"/>
              <a:t>with grid resolution (&amp; STL size) 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3A27640-8BB6-F99E-78D1-D846C3AC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FD2737E-A733-37E0-ED9D-EA7158B6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8441529-E931-AF06-25B3-8296A3F6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" name="Billede 9" descr="Et billede, der indeholder tekst, skærmbillede, diagram, Kurve&#10;&#10;Automatisk genereret beskrivelse">
            <a:extLst>
              <a:ext uri="{FF2B5EF4-FFF2-40B4-BE49-F238E27FC236}">
                <a16:creationId xmlns:a16="http://schemas.microsoft.com/office/drawing/2014/main" id="{120B3F29-C948-3A21-DABE-29701DF4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340768"/>
            <a:ext cx="8271279" cy="476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7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91E0-4382-B623-CA35-B3BEEDE5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707EE76-8245-CF88-9275-4EC8CF4F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7811B8A-93D5-C6A6-167B-DAF274DD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</a:rPr>
              <a:t>ABP-BE-CEI, student trainee Clara R.W. </a:t>
            </a:r>
            <a:r>
              <a:rPr lang="en-US" dirty="0"/>
              <a:t>| WAKIS: CAD Import &amp; Smart Meshing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EEBE5A8-C188-0D0A-4125-3D5D3F27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" name="Billede 9" descr="Et billede, der indeholder tekst, skærmbillede, diagram, Kurve&#10;&#10;Automatisk genereret beskrivelse">
            <a:extLst>
              <a:ext uri="{FF2B5EF4-FFF2-40B4-BE49-F238E27FC236}">
                <a16:creationId xmlns:a16="http://schemas.microsoft.com/office/drawing/2014/main" id="{27C44231-E507-737C-5C1C-269377719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53" y="1412776"/>
            <a:ext cx="8256059" cy="4755256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C7E75C1A-1259-9F9B-2381-964DDF088C10}"/>
              </a:ext>
            </a:extLst>
          </p:cNvPr>
          <p:cNvSpPr txBox="1"/>
          <p:nvPr/>
        </p:nvSpPr>
        <p:spPr>
          <a:xfrm>
            <a:off x="7887963" y="547803"/>
            <a:ext cx="408553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Taking this into account (as well as the methods’ masking qualities), do we want to </a:t>
            </a:r>
            <a:r>
              <a:rPr lang="en-US" sz="1400" b="1" dirty="0">
                <a:solidFill>
                  <a:srgbClr val="00B050"/>
                </a:solidFill>
              </a:rPr>
              <a:t>proceed with </a:t>
            </a:r>
            <a:r>
              <a:rPr lang="en-US" sz="1400" dirty="0">
                <a:solidFill>
                  <a:srgbClr val="00B050"/>
                </a:solidFill>
              </a:rPr>
              <a:t>studying the </a:t>
            </a:r>
            <a:r>
              <a:rPr lang="en-US" sz="1400" b="1" dirty="0" err="1">
                <a:solidFill>
                  <a:srgbClr val="00B050"/>
                </a:solidFill>
              </a:rPr>
              <a:t>implicit_distance</a:t>
            </a:r>
            <a:r>
              <a:rPr lang="en-US" sz="1400" b="1" dirty="0">
                <a:solidFill>
                  <a:srgbClr val="00B050"/>
                </a:solidFill>
              </a:rPr>
              <a:t> method ?</a:t>
            </a:r>
          </a:p>
          <a:p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Team agreed.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BB6FFAD-5FCF-9078-7329-C1F5BDBE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7479975" cy="1065742"/>
          </a:xfrm>
        </p:spPr>
        <p:txBody>
          <a:bodyPr/>
          <a:lstStyle/>
          <a:p>
            <a:r>
              <a:rPr lang="en-US" dirty="0"/>
              <a:t>Scaling times with 80% less STL</a:t>
            </a:r>
            <a:r>
              <a:rPr lang="en-US" b="0" dirty="0"/>
              <a:t> triangles (in each of the 6L2 objects)</a:t>
            </a:r>
          </a:p>
        </p:txBody>
      </p:sp>
    </p:spTree>
    <p:extLst>
      <p:ext uri="{BB962C8B-B14F-4D97-AF65-F5344CB8AC3E}">
        <p14:creationId xmlns:p14="http://schemas.microsoft.com/office/powerpoint/2010/main" val="247198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4F73-9F1C-A49F-F94E-F789A273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F3FFB-5C5D-4ED5-DDC7-37CBFC35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08E842D-6713-B08E-5FE0-96928AEA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332519A-5D4C-2F6D-ADF6-37C3635B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Presenter | Presentation Title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7A524B9-564B-C22C-0CFA-82123B04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68DEC0D5-6EC2-BBDA-F3C1-32F1AAE76B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1124744"/>
            <a:ext cx="11784011" cy="507603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endParaRPr lang="en-US" b="0" dirty="0">
              <a:latin typeface="Helvetica" pitchFamily="2" charset="0"/>
            </a:endParaRPr>
          </a:p>
          <a:p>
            <a:pPr marL="342900" indent="-342900">
              <a:buFontTx/>
              <a:buChar char="-"/>
            </a:pPr>
            <a:r>
              <a:rPr lang="en-US" b="0" dirty="0">
                <a:highlight>
                  <a:srgbClr val="FFFF00"/>
                </a:highlight>
                <a:latin typeface="Helvetica" pitchFamily="2" charset="0"/>
              </a:rPr>
              <a:t>Start with the subpixel smoothing ! :D  </a:t>
            </a:r>
            <a:r>
              <a:rPr lang="en-US" b="0" dirty="0">
                <a:latin typeface="Helvetica" pitchFamily="2" charset="0"/>
              </a:rPr>
              <a:t>Last part of project (3/5 month almost passed.)</a:t>
            </a:r>
          </a:p>
          <a:p>
            <a:pPr marL="342900" indent="-342900">
              <a:buFontTx/>
              <a:buChar char="-"/>
            </a:pPr>
            <a:endParaRPr lang="en-US" b="0" dirty="0">
              <a:latin typeface="Helvetica" pitchFamily="2" charset="0"/>
            </a:endParaRPr>
          </a:p>
          <a:p>
            <a:pPr marL="342900" indent="-342900">
              <a:buFontTx/>
              <a:buChar char="-"/>
            </a:pPr>
            <a:r>
              <a:rPr lang="en-US" b="0" i="1" dirty="0">
                <a:latin typeface="Helvetica" pitchFamily="2" charset="0"/>
              </a:rPr>
              <a:t>Add qualitative benchmark of decimation to </a:t>
            </a:r>
            <a:r>
              <a:rPr lang="en-US" b="0" i="1" dirty="0" err="1">
                <a:latin typeface="Helvetica" pitchFamily="2" charset="0"/>
              </a:rPr>
              <a:t>CodiMD</a:t>
            </a:r>
            <a:r>
              <a:rPr lang="en-US" b="0" i="1" dirty="0">
                <a:latin typeface="Helvetica" pitchFamily="2" charset="0"/>
              </a:rPr>
              <a:t> (mask slices) ?</a:t>
            </a:r>
          </a:p>
          <a:p>
            <a:pPr marL="666750" lvl="1" indent="-342900">
              <a:buFontTx/>
              <a:buChar char="-"/>
            </a:pPr>
            <a:r>
              <a:rPr lang="en-US" i="1" dirty="0">
                <a:latin typeface="Helvetica" pitchFamily="2" charset="0"/>
              </a:rPr>
              <a:t>Further try out </a:t>
            </a:r>
            <a:r>
              <a:rPr lang="en-US" i="1" dirty="0" err="1">
                <a:latin typeface="Helvetica" pitchFamily="2" charset="0"/>
              </a:rPr>
              <a:t>Trimesh</a:t>
            </a:r>
            <a:r>
              <a:rPr lang="en-US" i="1" dirty="0">
                <a:latin typeface="Helvetica" pitchFamily="2" charset="0"/>
              </a:rPr>
              <a:t> Boolean operations? </a:t>
            </a:r>
          </a:p>
          <a:p>
            <a:pPr lvl="1" indent="0">
              <a:buNone/>
            </a:pPr>
            <a:endParaRPr lang="en-US" i="1" dirty="0">
              <a:latin typeface="Helvetica" pitchFamily="2" charset="0"/>
            </a:endParaRPr>
          </a:p>
          <a:p>
            <a:pPr marL="342900" indent="-342900">
              <a:buFontTx/>
              <a:buChar char="-"/>
            </a:pPr>
            <a:r>
              <a:rPr lang="en-US" b="0" dirty="0">
                <a:latin typeface="Helvetica" pitchFamily="2" charset="0"/>
              </a:rPr>
              <a:t>Warp the Body of the 6L2 and try out voxelization benchmark again</a:t>
            </a:r>
          </a:p>
          <a:p>
            <a:pPr marL="342900" indent="-342900">
              <a:buFontTx/>
              <a:buChar char="-"/>
            </a:pPr>
            <a:r>
              <a:rPr lang="en-US" b="0" dirty="0">
                <a:highlight>
                  <a:srgbClr val="FFFF00"/>
                </a:highlight>
                <a:latin typeface="Helvetica" pitchFamily="2" charset="0"/>
              </a:rPr>
              <a:t>Make high grid resolution sweep with the different methods on the </a:t>
            </a:r>
            <a:r>
              <a:rPr lang="en-US" dirty="0">
                <a:highlight>
                  <a:srgbClr val="FFFF00"/>
                </a:highlight>
                <a:latin typeface="Helvetica" pitchFamily="2" charset="0"/>
              </a:rPr>
              <a:t>shell</a:t>
            </a:r>
            <a:r>
              <a:rPr lang="en-US" b="0" dirty="0">
                <a:latin typeface="Helvetica" pitchFamily="2" charset="0"/>
              </a:rPr>
              <a:t>, inspect these masks to study if the </a:t>
            </a:r>
            <a:r>
              <a:rPr lang="en-US" b="0" dirty="0" err="1">
                <a:latin typeface="Helvetica" pitchFamily="2" charset="0"/>
              </a:rPr>
              <a:t>voxelize_rectilinear</a:t>
            </a:r>
            <a:r>
              <a:rPr lang="en-US" b="0" dirty="0">
                <a:latin typeface="Helvetica" pitchFamily="2" charset="0"/>
              </a:rPr>
              <a:t> is superior here (like slide 7) AND perform Wakefield </a:t>
            </a:r>
            <a:r>
              <a:rPr lang="en-US" b="0" dirty="0" err="1">
                <a:latin typeface="Helvetica" pitchFamily="2" charset="0"/>
              </a:rPr>
              <a:t>Wakis</a:t>
            </a:r>
            <a:r>
              <a:rPr lang="en-US" b="0" dirty="0">
                <a:latin typeface="Helvetica" pitchFamily="2" charset="0"/>
              </a:rPr>
              <a:t> simulation on these high resolution grids (like side 6)</a:t>
            </a:r>
          </a:p>
          <a:p>
            <a:pPr marL="342900" indent="-342900">
              <a:buFontTx/>
              <a:buChar char="-"/>
            </a:pPr>
            <a:r>
              <a:rPr lang="en-US" b="0" dirty="0">
                <a:latin typeface="Helvetica" pitchFamily="2" charset="0"/>
              </a:rPr>
              <a:t>Perform high grid resolution </a:t>
            </a:r>
            <a:r>
              <a:rPr lang="en-US" b="0" dirty="0" err="1">
                <a:latin typeface="Helvetica" pitchFamily="2" charset="0"/>
              </a:rPr>
              <a:t>Wakis</a:t>
            </a:r>
            <a:r>
              <a:rPr lang="en-US" b="0" dirty="0">
                <a:latin typeface="Helvetica" pitchFamily="2" charset="0"/>
              </a:rPr>
              <a:t> Wakefield simulation on the full 6L2 device (like on the shell, slide 6)</a:t>
            </a:r>
          </a:p>
          <a:p>
            <a:pPr marL="285750" indent="-285750"/>
            <a:endParaRPr lang="en-US" b="0" i="1" dirty="0">
              <a:latin typeface="Helvetica" pitchFamily="2" charset="0"/>
            </a:endParaRPr>
          </a:p>
          <a:p>
            <a:pPr marL="342900" indent="-342900">
              <a:buFontTx/>
              <a:buChar char="-"/>
            </a:pPr>
            <a:r>
              <a:rPr lang="en-US" b="0" dirty="0">
                <a:solidFill>
                  <a:srgbClr val="0070C0"/>
                </a:solidFill>
                <a:latin typeface="Helvetica" pitchFamily="2" charset="0"/>
              </a:rPr>
              <a:t>Continue to understand the physical effects of mask variations </a:t>
            </a:r>
          </a:p>
          <a:p>
            <a:pPr marL="666750" lvl="1" indent="-342900">
              <a:buFontTx/>
              <a:buChar char="-"/>
            </a:pPr>
            <a:r>
              <a:rPr lang="en-US" dirty="0">
                <a:latin typeface="Helvetica" pitchFamily="2" charset="0"/>
              </a:rPr>
              <a:t>Too thin mask (</a:t>
            </a:r>
            <a:r>
              <a:rPr lang="en-US" dirty="0" err="1">
                <a:latin typeface="Helvetica" pitchFamily="2" charset="0"/>
              </a:rPr>
              <a:t>select_interior_points</a:t>
            </a:r>
            <a:r>
              <a:rPr lang="en-US" dirty="0">
                <a:latin typeface="Helvetica" pitchFamily="2" charset="0"/>
              </a:rPr>
              <a:t> with point-to-cell mask threshold 0.5)</a:t>
            </a:r>
          </a:p>
          <a:p>
            <a:pPr marL="990900" lvl="2" indent="-342900">
              <a:buFontTx/>
              <a:buChar char="-"/>
            </a:pPr>
            <a:r>
              <a:rPr lang="en-US" dirty="0">
                <a:latin typeface="Helvetica" pitchFamily="2" charset="0"/>
              </a:rPr>
              <a:t>Skin depth conductivity &amp; </a:t>
            </a:r>
            <a:r>
              <a:rPr lang="en-US" dirty="0" err="1">
                <a:latin typeface="Helvetica" pitchFamily="2" charset="0"/>
              </a:rPr>
              <a:t>wakefield</a:t>
            </a:r>
            <a:r>
              <a:rPr lang="en-US" dirty="0">
                <a:latin typeface="Helvetica" pitchFamily="2" charset="0"/>
              </a:rPr>
              <a:t> length</a:t>
            </a:r>
          </a:p>
          <a:p>
            <a:pPr marL="666750" lvl="1" indent="-342900">
              <a:buFontTx/>
              <a:buChar char="-"/>
            </a:pPr>
            <a:r>
              <a:rPr lang="en-US" dirty="0" err="1">
                <a:latin typeface="Helvetica" pitchFamily="2" charset="0"/>
              </a:rPr>
              <a:t>Voxelize_rectilinear</a:t>
            </a:r>
            <a:r>
              <a:rPr lang="en-US" dirty="0">
                <a:latin typeface="Helvetica" pitchFamily="2" charset="0"/>
              </a:rPr>
              <a:t> mask of the simple shell cavity has an inner radius different to current </a:t>
            </a:r>
            <a:r>
              <a:rPr lang="en-US" dirty="0" err="1">
                <a:latin typeface="Helvetica" pitchFamily="2" charset="0"/>
              </a:rPr>
              <a:t>Wakis</a:t>
            </a:r>
            <a:r>
              <a:rPr lang="en-US" dirty="0">
                <a:latin typeface="Helvetica" pitchFamily="2" charset="0"/>
              </a:rPr>
              <a:t> results </a:t>
            </a:r>
          </a:p>
          <a:p>
            <a:pPr marL="990900" lvl="2" indent="-342900">
              <a:buFontTx/>
              <a:buChar char="-"/>
            </a:pPr>
            <a:r>
              <a:rPr lang="en-US" dirty="0">
                <a:latin typeface="Helvetica" pitchFamily="2" charset="0"/>
              </a:rPr>
              <a:t>Shift in Impedance modes </a:t>
            </a:r>
          </a:p>
          <a:p>
            <a:pPr marL="666750" lvl="1" indent="-342900">
              <a:buFontTx/>
              <a:buChar char="-"/>
            </a:pPr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32329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3B033-8080-56EF-4C19-8C8AB1D9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Pyvista</a:t>
            </a:r>
            <a:r>
              <a:rPr lang="en-US" dirty="0"/>
              <a:t> methods (repetition)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196AC35-FF84-D60D-F5CF-7FC71E12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D4DBCDD-49BB-8B9C-C4C2-6F399CAB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73DB5E6-A244-29EE-81AE-273C51D7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7445DC4D-FE19-0E22-6C57-FAC24CAE1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908720"/>
            <a:ext cx="11448651" cy="529205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Select_enclosed_points</a:t>
            </a:r>
            <a:r>
              <a:rPr lang="en-US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dirty="0"/>
              <a:t>What </a:t>
            </a:r>
            <a:r>
              <a:rPr lang="en-US" sz="1800" b="0" dirty="0" err="1"/>
              <a:t>Wakis</a:t>
            </a:r>
            <a:r>
              <a:rPr lang="en-US" sz="1800" b="0" dirty="0"/>
              <a:t> currently uses, outdated because of numerical instability</a:t>
            </a:r>
          </a:p>
          <a:p>
            <a:endParaRPr lang="en-US" dirty="0"/>
          </a:p>
          <a:p>
            <a:r>
              <a:rPr lang="en-US" dirty="0" err="1"/>
              <a:t>Select_interior_points</a:t>
            </a:r>
            <a:r>
              <a:rPr lang="en-US" dirty="0"/>
              <a:t>(method)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1"/>
                </a:solidFill>
              </a:rPr>
              <a:t>static search </a:t>
            </a:r>
            <a:r>
              <a:rPr lang="en-US" sz="1600" b="0" dirty="0"/>
              <a:t>(tree is build once &amp; cannot be changed = optimized for memory)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Set-up cost: Axis-Aligned Bounding Box (AABB) tree implementation: O(N </a:t>
            </a:r>
            <a:r>
              <a:rPr lang="en-US" sz="1600" b="0" dirty="0" err="1"/>
              <a:t>logN</a:t>
            </a:r>
            <a:r>
              <a:rPr lang="en-US" sz="1600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Query cost: M points in plane searching for closest point ‘hit’ on surface is O(M </a:t>
            </a:r>
            <a:r>
              <a:rPr lang="en-US" sz="1600" b="0" dirty="0" err="1"/>
              <a:t>logN</a:t>
            </a:r>
            <a:r>
              <a:rPr lang="en-US" sz="1600" b="0" dirty="0"/>
              <a:t>)</a:t>
            </a:r>
          </a:p>
          <a:p>
            <a:endParaRPr lang="en-US" dirty="0"/>
          </a:p>
          <a:p>
            <a:r>
              <a:rPr lang="en-US" dirty="0" err="1"/>
              <a:t>Compute_implicit_distance</a:t>
            </a:r>
            <a:r>
              <a:rPr lang="en-US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searches = </a:t>
            </a:r>
            <a:r>
              <a:rPr lang="en-US" sz="1600" b="0" dirty="0" err="1"/>
              <a:t>vtkAbstractCellLocator</a:t>
            </a:r>
            <a:r>
              <a:rPr lang="en-US" sz="1600" b="0" dirty="0"/>
              <a:t> which defaults to AABB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Set-up costs: AABB tree : O(N </a:t>
            </a:r>
            <a:r>
              <a:rPr lang="en-US" sz="1600" b="0" dirty="0" err="1"/>
              <a:t>logN</a:t>
            </a:r>
            <a:r>
              <a:rPr lang="en-US" sz="1600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Query cost: O(M </a:t>
            </a:r>
            <a:r>
              <a:rPr lang="en-US" sz="1600" b="0" dirty="0" err="1"/>
              <a:t>logN</a:t>
            </a:r>
            <a:r>
              <a:rPr lang="en-US" sz="1600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Signed distance dot product calculations: O()</a:t>
            </a:r>
          </a:p>
          <a:p>
            <a:endParaRPr lang="en-US" dirty="0"/>
          </a:p>
          <a:p>
            <a:r>
              <a:rPr lang="en-US" dirty="0" err="1"/>
              <a:t>Voxelize_rectilinear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accent1"/>
                </a:solidFill>
              </a:rPr>
              <a:t>Doesn’t search </a:t>
            </a:r>
            <a:r>
              <a:rPr lang="en-US" sz="1800" b="0" dirty="0"/>
              <a:t>mesh geometry per point P on the grid, </a:t>
            </a:r>
            <a:r>
              <a:rPr lang="en-US" sz="1800" b="0" dirty="0">
                <a:solidFill>
                  <a:schemeClr val="accent1"/>
                </a:solidFill>
              </a:rPr>
              <a:t>but ‘paints’ </a:t>
            </a:r>
            <a:r>
              <a:rPr lang="en-US" sz="1800" b="0" dirty="0"/>
              <a:t>mesh onto a grid; </a:t>
            </a:r>
          </a:p>
          <a:p>
            <a:pPr marL="609600" lvl="1" indent="-285750">
              <a:buFont typeface="Arial" panose="020B0604020202020204" pitchFamily="34" charset="0"/>
              <a:buChar char="•"/>
            </a:pPr>
            <a:r>
              <a:rPr lang="en-US" sz="1500" b="0" dirty="0"/>
              <a:t>Looks at each row (slices of the 3D (Image)grid) &amp; decides where mesh enters &amp; exits that row with </a:t>
            </a:r>
            <a:r>
              <a:rPr lang="en-US" sz="1500" b="0" dirty="0">
                <a:solidFill>
                  <a:schemeClr val="accent1"/>
                </a:solidFill>
              </a:rPr>
              <a:t>ray 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</a:rPr>
              <a:t>Set-up cost: Linear with no. of triangles N </a:t>
            </a:r>
            <a:r>
              <a:rPr lang="en-US" sz="1800" dirty="0">
                <a:solidFill>
                  <a:schemeClr val="accent1"/>
                </a:solidFill>
              </a:rPr>
              <a:t>O(N)-O(N </a:t>
            </a:r>
            <a:r>
              <a:rPr lang="en-US" sz="1800" dirty="0" err="1">
                <a:solidFill>
                  <a:schemeClr val="accent1"/>
                </a:solidFill>
              </a:rPr>
              <a:t>logN</a:t>
            </a:r>
            <a:r>
              <a:rPr lang="en-US" sz="1800" dirty="0">
                <a:solidFill>
                  <a:schemeClr val="accent1"/>
                </a:solidFill>
              </a:rPr>
              <a:t>)</a:t>
            </a:r>
            <a:r>
              <a:rPr lang="en-US" sz="1800" b="0" dirty="0">
                <a:solidFill>
                  <a:schemeClr val="accent1"/>
                </a:solidFill>
              </a:rPr>
              <a:t> for the scan-conversion process </a:t>
            </a:r>
            <a:r>
              <a:rPr lang="en-US" sz="1800" b="0" dirty="0">
                <a:solidFill>
                  <a:schemeClr val="tx2"/>
                </a:solidFill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accent1"/>
                </a:solidFill>
              </a:rPr>
              <a:t>Query cost: O (</a:t>
            </a:r>
            <a:r>
              <a:rPr lang="en-US" sz="1800" b="0" dirty="0" err="1">
                <a:solidFill>
                  <a:schemeClr val="accent1"/>
                </a:solidFill>
              </a:rPr>
              <a:t>logN</a:t>
            </a:r>
            <a:r>
              <a:rPr lang="en-US" sz="1800" b="0" dirty="0">
                <a:solidFill>
                  <a:schemeClr val="accent1"/>
                </a:solidFill>
              </a:rPr>
              <a:t> + </a:t>
            </a:r>
            <a:r>
              <a:rPr lang="en-US" sz="1800" b="0" dirty="0" err="1">
                <a:solidFill>
                  <a:schemeClr val="accent1"/>
                </a:solidFill>
              </a:rPr>
              <a:t>rows_grid</a:t>
            </a:r>
            <a:r>
              <a:rPr lang="en-US" sz="1800" b="0" dirty="0">
                <a:solidFill>
                  <a:schemeClr val="accent1"/>
                </a:solidFill>
              </a:rPr>
              <a:t> x </a:t>
            </a:r>
            <a:r>
              <a:rPr lang="en-US" sz="1800" b="0" dirty="0" err="1">
                <a:solidFill>
                  <a:schemeClr val="accent1"/>
                </a:solidFill>
              </a:rPr>
              <a:t>scanlines_per_row</a:t>
            </a:r>
            <a:r>
              <a:rPr lang="en-US" sz="1800" b="0" dirty="0">
                <a:solidFill>
                  <a:schemeClr val="accent1"/>
                </a:solidFill>
              </a:rPr>
              <a:t> x </a:t>
            </a:r>
            <a:r>
              <a:rPr lang="en-US" sz="1800" b="0" dirty="0" err="1">
                <a:solidFill>
                  <a:schemeClr val="accent1"/>
                </a:solidFill>
              </a:rPr>
              <a:t>hits_per_scanline</a:t>
            </a:r>
            <a:r>
              <a:rPr lang="en-US" sz="1800" b="0" dirty="0">
                <a:solidFill>
                  <a:schemeClr val="accent1"/>
                </a:solidFill>
              </a:rPr>
              <a:t>) + O(Voxels in grid)</a:t>
            </a:r>
          </a:p>
          <a:p>
            <a:pPr marL="609600" lvl="1" indent="-285750"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chemeClr val="tx2"/>
                </a:solidFill>
              </a:rPr>
              <a:t>+</a:t>
            </a:r>
            <a:r>
              <a:rPr lang="en-US" sz="1500" b="0" dirty="0" err="1">
                <a:solidFill>
                  <a:schemeClr val="tx2"/>
                </a:solidFill>
              </a:rPr>
              <a:t>logN</a:t>
            </a:r>
            <a:r>
              <a:rPr lang="en-US" sz="1500" b="0" dirty="0">
                <a:solidFill>
                  <a:schemeClr val="tx2"/>
                </a:solidFill>
              </a:rPr>
              <a:t> because only small</a:t>
            </a:r>
            <a:r>
              <a:rPr lang="en-US" sz="1500" dirty="0">
                <a:solidFill>
                  <a:schemeClr val="tx2"/>
                </a:solidFill>
              </a:rPr>
              <a:t> amount of search queries: algorithm exploits spatial coherence of the tree and grid.</a:t>
            </a:r>
            <a:endParaRPr lang="en-US" sz="1500" b="0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8058F88C-9980-7C0B-18D2-9B93567C5A5A}"/>
              </a:ext>
            </a:extLst>
          </p:cNvPr>
          <p:cNvSpPr txBox="1"/>
          <p:nvPr/>
        </p:nvSpPr>
        <p:spPr>
          <a:xfrm>
            <a:off x="7752184" y="3388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tx2"/>
                </a:solidFill>
                <a:highlight>
                  <a:srgbClr val="00FFFF"/>
                </a:highlight>
              </a:rPr>
              <a:t>M: no. of points P_M in </a:t>
            </a:r>
            <a:r>
              <a:rPr lang="en-US" sz="1600" dirty="0">
                <a:solidFill>
                  <a:schemeClr val="tx2"/>
                </a:solidFill>
                <a:highlight>
                  <a:srgbClr val="00FFFF"/>
                </a:highlight>
              </a:rPr>
              <a:t>grid</a:t>
            </a:r>
            <a:r>
              <a:rPr lang="en-US" sz="1600" b="0" dirty="0">
                <a:solidFill>
                  <a:schemeClr val="tx2"/>
                </a:solidFill>
                <a:highlight>
                  <a:srgbClr val="00FFFF"/>
                </a:highlight>
              </a:rPr>
              <a:t> (M probe points)</a:t>
            </a:r>
          </a:p>
          <a:p>
            <a:r>
              <a:rPr lang="en-US" sz="1600" dirty="0">
                <a:solidFill>
                  <a:schemeClr val="tx2"/>
                </a:solidFill>
                <a:highlight>
                  <a:srgbClr val="00FFFF"/>
                </a:highlight>
              </a:rPr>
              <a:t>N: no. of triangles in the surface STL file</a:t>
            </a:r>
            <a:r>
              <a:rPr lang="en-US" sz="1600" b="0" dirty="0">
                <a:solidFill>
                  <a:schemeClr val="tx2"/>
                </a:solidFill>
                <a:highlight>
                  <a:srgbClr val="00FFFF"/>
                </a:highlight>
              </a:rPr>
              <a:t> </a:t>
            </a:r>
            <a:endParaRPr lang="en-US" sz="1600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663DCFB6-5E5D-C18A-790E-4ED1EFB004CB}"/>
              </a:ext>
            </a:extLst>
          </p:cNvPr>
          <p:cNvSpPr txBox="1"/>
          <p:nvPr/>
        </p:nvSpPr>
        <p:spPr>
          <a:xfrm>
            <a:off x="8717919" y="2348880"/>
            <a:ext cx="242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O((M+N) </a:t>
            </a:r>
            <a:r>
              <a:rPr lang="en-US" sz="1800" b="1" dirty="0" err="1">
                <a:solidFill>
                  <a:schemeClr val="tx2"/>
                </a:solidFill>
              </a:rPr>
              <a:t>logN</a:t>
            </a:r>
            <a:r>
              <a:rPr lang="en-US" sz="1800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327E012-F861-7886-37F8-717020CF81DE}"/>
              </a:ext>
            </a:extLst>
          </p:cNvPr>
          <p:cNvSpPr txBox="1"/>
          <p:nvPr/>
        </p:nvSpPr>
        <p:spPr>
          <a:xfrm>
            <a:off x="8184232" y="3466296"/>
            <a:ext cx="3599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O((M+N) </a:t>
            </a:r>
            <a:r>
              <a:rPr lang="en-US" sz="1800" b="1" dirty="0" err="1">
                <a:solidFill>
                  <a:schemeClr val="tx2"/>
                </a:solidFill>
                <a:highlight>
                  <a:srgbClr val="FFFF00"/>
                </a:highlight>
              </a:rPr>
              <a:t>logN</a:t>
            </a: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)???</a:t>
            </a:r>
            <a:br>
              <a:rPr lang="en-US" sz="1800" b="1" dirty="0">
                <a:solidFill>
                  <a:schemeClr val="tx2"/>
                </a:solidFill>
              </a:rPr>
            </a:br>
            <a:r>
              <a:rPr lang="en-US" sz="1800" b="1" dirty="0">
                <a:solidFill>
                  <a:schemeClr val="tx2"/>
                </a:solidFill>
              </a:rPr>
              <a:t>Probably more: ask </a:t>
            </a:r>
            <a:r>
              <a:rPr lang="en-US" sz="1800" b="1" dirty="0" err="1">
                <a:solidFill>
                  <a:schemeClr val="tx2"/>
                </a:solidFill>
              </a:rPr>
              <a:t>PyVista</a:t>
            </a:r>
            <a:r>
              <a:rPr lang="en-US" sz="1800" b="1" dirty="0">
                <a:solidFill>
                  <a:schemeClr val="tx2"/>
                </a:solidFill>
              </a:rPr>
              <a:t> community on Slack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2928BB28-3261-9F97-8AF8-F15B5FBAFA20}"/>
              </a:ext>
            </a:extLst>
          </p:cNvPr>
          <p:cNvSpPr txBox="1"/>
          <p:nvPr/>
        </p:nvSpPr>
        <p:spPr>
          <a:xfrm>
            <a:off x="8544273" y="5085184"/>
            <a:ext cx="3647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O ( </a:t>
            </a:r>
            <a:r>
              <a:rPr lang="en-US" sz="1800" b="1" dirty="0" err="1">
                <a:solidFill>
                  <a:schemeClr val="tx2"/>
                </a:solidFill>
                <a:highlight>
                  <a:srgbClr val="FFFF00"/>
                </a:highlight>
              </a:rPr>
              <a:t>NlogN</a:t>
            </a: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b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</a:b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+</a:t>
            </a:r>
            <a: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rows x scanlines x hits +</a:t>
            </a:r>
            <a:r>
              <a:rPr lang="en-US" b="1" dirty="0" err="1">
                <a:solidFill>
                  <a:schemeClr val="tx2"/>
                </a:solidFill>
                <a:highlight>
                  <a:srgbClr val="FFFF00"/>
                </a:highlight>
              </a:rPr>
              <a:t>logN</a:t>
            </a:r>
            <a: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b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</a:br>
            <a: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+ no. of voxels in grid</a:t>
            </a: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</a:p>
          <a:p>
            <a:r>
              <a:rPr lang="en-US" b="1" dirty="0">
                <a:solidFill>
                  <a:schemeClr val="tx2"/>
                </a:solidFill>
              </a:rPr>
              <a:t>Ask </a:t>
            </a:r>
            <a:r>
              <a:rPr lang="en-US" b="1" dirty="0" err="1">
                <a:solidFill>
                  <a:schemeClr val="tx2"/>
                </a:solidFill>
              </a:rPr>
              <a:t>PyVista</a:t>
            </a:r>
            <a:r>
              <a:rPr lang="en-US" b="1" dirty="0">
                <a:solidFill>
                  <a:schemeClr val="tx2"/>
                </a:solidFill>
              </a:rPr>
              <a:t> community on Slack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39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80E4-CBB3-E198-BDA1-AF2D95E9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B3552277-ADFF-06C5-6125-3AB854EA0630}"/>
              </a:ext>
            </a:extLst>
          </p:cNvPr>
          <p:cNvSpPr txBox="1"/>
          <p:nvPr/>
        </p:nvSpPr>
        <p:spPr>
          <a:xfrm>
            <a:off x="4156366" y="2204864"/>
            <a:ext cx="3879267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1" dirty="0"/>
              <a:t>Overview slides</a:t>
            </a:r>
          </a:p>
        </p:txBody>
      </p:sp>
    </p:spTree>
    <p:extLst>
      <p:ext uri="{BB962C8B-B14F-4D97-AF65-F5344CB8AC3E}">
        <p14:creationId xmlns:p14="http://schemas.microsoft.com/office/powerpoint/2010/main" val="327265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ECF5-77B5-80E6-252B-88858EC3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E2F5-01BB-75C0-4623-87F955926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659" y="1411178"/>
            <a:ext cx="5328592" cy="44622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a-DK" b="0" dirty="0">
                <a:solidFill>
                  <a:schemeClr val="tx2"/>
                </a:solidFill>
              </a:rPr>
              <a:t>Test new </a:t>
            </a:r>
            <a:r>
              <a:rPr lang="da-DK" b="0" dirty="0" err="1">
                <a:solidFill>
                  <a:schemeClr val="tx2"/>
                </a:solidFill>
              </a:rPr>
              <a:t>methods</a:t>
            </a:r>
            <a:r>
              <a:rPr lang="da-DK" b="0" dirty="0">
                <a:solidFill>
                  <a:schemeClr val="tx2"/>
                </a:solidFill>
              </a:rPr>
              <a:t> to </a:t>
            </a:r>
            <a:r>
              <a:rPr lang="da-DK" b="0" dirty="0" err="1">
                <a:solidFill>
                  <a:schemeClr val="tx2"/>
                </a:solidFill>
              </a:rPr>
              <a:t>improve</a:t>
            </a:r>
            <a:r>
              <a:rPr lang="da-DK" b="0" dirty="0">
                <a:solidFill>
                  <a:schemeClr val="tx2"/>
                </a:solidFill>
              </a:rPr>
              <a:t> CAD import </a:t>
            </a:r>
            <a:r>
              <a:rPr lang="da-DK" b="0" dirty="0" err="1">
                <a:solidFill>
                  <a:schemeClr val="tx2"/>
                </a:solidFill>
              </a:rPr>
              <a:t>robustness</a:t>
            </a:r>
            <a:r>
              <a:rPr lang="da-DK" b="0" dirty="0">
                <a:solidFill>
                  <a:schemeClr val="tx2"/>
                </a:solidFill>
              </a:rPr>
              <a:t>: Handle </a:t>
            </a:r>
            <a:r>
              <a:rPr lang="da-DK" dirty="0" err="1">
                <a:solidFill>
                  <a:schemeClr val="accent1"/>
                </a:solidFill>
              </a:rPr>
              <a:t>meshing</a:t>
            </a:r>
            <a:r>
              <a:rPr lang="da-DK" b="0" dirty="0">
                <a:solidFill>
                  <a:schemeClr val="tx2"/>
                </a:solidFill>
              </a:rPr>
              <a:t> of non-manifold and </a:t>
            </a:r>
            <a:r>
              <a:rPr lang="da-DK" b="0" dirty="0" err="1">
                <a:solidFill>
                  <a:schemeClr val="tx2"/>
                </a:solidFill>
              </a:rPr>
              <a:t>imperfect</a:t>
            </a:r>
            <a:r>
              <a:rPr lang="da-DK" b="0" dirty="0">
                <a:solidFill>
                  <a:schemeClr val="tx2"/>
                </a:solidFill>
              </a:rPr>
              <a:t> </a:t>
            </a:r>
            <a:r>
              <a:rPr lang="da-DK" b="0" dirty="0" err="1">
                <a:solidFill>
                  <a:schemeClr val="tx2"/>
                </a:solidFill>
              </a:rPr>
              <a:t>geometries</a:t>
            </a:r>
            <a:endParaRPr lang="da-DK" b="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da-DK" b="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b="0" dirty="0" err="1"/>
              <a:t>Improve</a:t>
            </a:r>
            <a:r>
              <a:rPr lang="da-DK" b="0" dirty="0"/>
              <a:t> performance by: </a:t>
            </a:r>
            <a:r>
              <a:rPr lang="da-DK" dirty="0" err="1">
                <a:solidFill>
                  <a:schemeClr val="accent1"/>
                </a:solidFill>
              </a:rPr>
              <a:t>Cleaning</a:t>
            </a:r>
            <a:r>
              <a:rPr lang="da-DK" b="0" dirty="0"/>
              <a:t> STL </a:t>
            </a:r>
            <a:r>
              <a:rPr lang="da-DK" b="0" dirty="0" err="1"/>
              <a:t>triangle</a:t>
            </a:r>
            <a:r>
              <a:rPr lang="da-DK" b="0" dirty="0"/>
              <a:t> </a:t>
            </a:r>
            <a:r>
              <a:rPr lang="da-DK" b="0" dirty="0" err="1"/>
              <a:t>meshes</a:t>
            </a:r>
            <a:r>
              <a:rPr lang="da-DK" b="0" dirty="0"/>
              <a:t> &amp; </a:t>
            </a:r>
            <a:r>
              <a:rPr lang="da-DK" b="0" dirty="0" err="1"/>
              <a:t>Reducing</a:t>
            </a:r>
            <a:r>
              <a:rPr lang="da-DK" b="0" dirty="0"/>
              <a:t> </a:t>
            </a:r>
            <a:r>
              <a:rPr lang="da-DK" b="0" dirty="0" err="1"/>
              <a:t>unnecessary</a:t>
            </a:r>
            <a:r>
              <a:rPr lang="da-DK" b="0" dirty="0"/>
              <a:t> </a:t>
            </a:r>
            <a:r>
              <a:rPr lang="da-DK" b="0" dirty="0" err="1"/>
              <a:t>triangles</a:t>
            </a:r>
            <a:br>
              <a:rPr lang="da-DK" b="0" dirty="0"/>
            </a:br>
            <a:endParaRPr lang="da-DK" b="0" dirty="0"/>
          </a:p>
          <a:p>
            <a:pPr marL="457200" indent="-457200">
              <a:buFont typeface="+mj-lt"/>
              <a:buAutoNum type="arabicPeriod"/>
            </a:pPr>
            <a:r>
              <a:rPr lang="da-DK" b="0" dirty="0" err="1"/>
              <a:t>Retrieve</a:t>
            </a:r>
            <a:r>
              <a:rPr lang="da-DK" b="0" dirty="0"/>
              <a:t> </a:t>
            </a:r>
            <a:r>
              <a:rPr lang="da-DK" dirty="0">
                <a:solidFill>
                  <a:schemeClr val="accent1"/>
                </a:solidFill>
              </a:rPr>
              <a:t>sub-</a:t>
            </a:r>
            <a:r>
              <a:rPr lang="da-DK" dirty="0" err="1">
                <a:solidFill>
                  <a:schemeClr val="accent1"/>
                </a:solidFill>
              </a:rPr>
              <a:t>cell</a:t>
            </a:r>
            <a:r>
              <a:rPr lang="da-DK" b="0" dirty="0"/>
              <a:t> </a:t>
            </a:r>
            <a:r>
              <a:rPr lang="da-DK" b="0" dirty="0" err="1"/>
              <a:t>volume</a:t>
            </a:r>
            <a:r>
              <a:rPr lang="da-DK" b="0" dirty="0"/>
              <a:t> and </a:t>
            </a:r>
            <a:r>
              <a:rPr lang="da-DK" b="0" dirty="0" err="1"/>
              <a:t>area</a:t>
            </a:r>
            <a:r>
              <a:rPr lang="da-DK" b="0" dirty="0"/>
              <a:t> information &amp; </a:t>
            </a:r>
            <a:r>
              <a:rPr lang="da-DK" b="0" dirty="0" err="1"/>
              <a:t>Improve</a:t>
            </a:r>
            <a:r>
              <a:rPr lang="da-DK" b="0" dirty="0"/>
              <a:t> </a:t>
            </a:r>
            <a:r>
              <a:rPr lang="da-DK" b="0" dirty="0" err="1"/>
              <a:t>material</a:t>
            </a:r>
            <a:r>
              <a:rPr lang="da-DK" b="0" dirty="0"/>
              <a:t> </a:t>
            </a:r>
            <a:r>
              <a:rPr lang="da-DK" b="0" dirty="0" err="1"/>
              <a:t>modeling</a:t>
            </a:r>
            <a:r>
              <a:rPr lang="da-DK" b="0" dirty="0"/>
              <a:t> </a:t>
            </a:r>
            <a:r>
              <a:rPr lang="da-DK" b="0" dirty="0" err="1"/>
              <a:t>using</a:t>
            </a:r>
            <a:r>
              <a:rPr lang="da-DK" b="0" dirty="0"/>
              <a:t> subpixel </a:t>
            </a:r>
            <a:r>
              <a:rPr lang="da-DK" b="0" dirty="0" err="1"/>
              <a:t>smoothing</a:t>
            </a:r>
            <a:br>
              <a:rPr lang="da-DK" b="0" dirty="0"/>
            </a:br>
            <a:endParaRPr lang="da-DK" b="0" dirty="0"/>
          </a:p>
          <a:p>
            <a:pPr marL="457200" indent="-457200">
              <a:buFont typeface="+mj-lt"/>
              <a:buAutoNum type="arabicPeriod"/>
            </a:pPr>
            <a:r>
              <a:rPr lang="da-DK" b="0" strike="sngStrike" dirty="0" err="1"/>
              <a:t>Potentially</a:t>
            </a:r>
            <a:r>
              <a:rPr lang="da-DK" b="0" strike="sngStrike" dirty="0"/>
              <a:t> </a:t>
            </a:r>
            <a:r>
              <a:rPr lang="da-DK" b="0" strike="sngStrike" dirty="0" err="1"/>
              <a:t>revisit</a:t>
            </a:r>
            <a:r>
              <a:rPr lang="da-DK" b="0" strike="sngStrike" dirty="0"/>
              <a:t> smart </a:t>
            </a:r>
            <a:r>
              <a:rPr lang="da-DK" b="0" strike="sngStrike" dirty="0" err="1"/>
              <a:t>meshing</a:t>
            </a:r>
            <a:r>
              <a:rPr lang="da-DK" b="0" strike="sngStrike" dirty="0"/>
              <a:t> </a:t>
            </a:r>
            <a:r>
              <a:rPr lang="da-DK" b="0" strike="sngStrike" dirty="0" err="1"/>
              <a:t>algorithm</a:t>
            </a:r>
            <a:r>
              <a:rPr lang="da-DK" b="0" strike="sngStrike" dirty="0"/>
              <a:t> ?</a:t>
            </a:r>
            <a:br>
              <a:rPr lang="da-DK" b="0" dirty="0"/>
            </a:br>
            <a:endParaRPr lang="da-DK" b="0" dirty="0"/>
          </a:p>
          <a:p>
            <a:pPr marL="457200" indent="-457200">
              <a:buFont typeface="+mj-lt"/>
              <a:buAutoNum type="arabicPeriod"/>
            </a:pPr>
            <a:r>
              <a:rPr lang="da-DK" b="0" dirty="0" err="1">
                <a:solidFill>
                  <a:schemeClr val="tx2"/>
                </a:solidFill>
              </a:rPr>
              <a:t>Ultimately</a:t>
            </a:r>
            <a:r>
              <a:rPr lang="da-DK" b="0" dirty="0">
                <a:solidFill>
                  <a:schemeClr val="tx2"/>
                </a:solidFill>
              </a:rPr>
              <a:t> </a:t>
            </a:r>
            <a:r>
              <a:rPr lang="da-DK" b="0" dirty="0" err="1">
                <a:solidFill>
                  <a:schemeClr val="tx2"/>
                </a:solidFill>
              </a:rPr>
              <a:t>simulate</a:t>
            </a:r>
            <a:r>
              <a:rPr lang="da-DK" b="0" dirty="0">
                <a:solidFill>
                  <a:schemeClr val="tx2"/>
                </a:solidFill>
              </a:rPr>
              <a:t> the 6L2 </a:t>
            </a:r>
            <a:r>
              <a:rPr lang="da-DK" b="0" dirty="0" err="1">
                <a:solidFill>
                  <a:schemeClr val="tx2"/>
                </a:solidFill>
              </a:rPr>
              <a:t>geometry</a:t>
            </a:r>
            <a:r>
              <a:rPr lang="da-DK" b="0" dirty="0">
                <a:solidFill>
                  <a:schemeClr val="tx2"/>
                </a:solidFill>
              </a:rPr>
              <a:t> in </a:t>
            </a:r>
            <a:r>
              <a:rPr lang="da-DK" b="0" dirty="0" err="1">
                <a:solidFill>
                  <a:schemeClr val="tx2"/>
                </a:solidFill>
              </a:rPr>
              <a:t>Wakis</a:t>
            </a:r>
            <a:endParaRPr lang="da-DK" b="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0B1462-F61E-CFFB-7285-E186E51F3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90" y="453695"/>
            <a:ext cx="7374702" cy="1065742"/>
          </a:xfrm>
        </p:spPr>
        <p:txBody>
          <a:bodyPr/>
          <a:lstStyle/>
          <a:p>
            <a:r>
              <a:rPr lang="en-US" dirty="0"/>
              <a:t>Project goals (for overview)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10D0A-514E-55ED-B673-F201AD0B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F4ED-E0F5-F64C-AC79-4679EEF727CE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8229F-DABA-0ECD-89C5-F3D26439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Internship project status | WAKIS: CAD Import &amp; Smart Meshing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8E57-8D0F-DAF1-0EF0-13286075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C48C3607-7471-7C76-B5B2-51357E13EE5E}"/>
                  </a:ext>
                </a:extLst>
              </p14:cNvPr>
              <p14:cNvContentPartPr/>
              <p14:nvPr/>
            </p14:nvContentPartPr>
            <p14:xfrm>
              <a:off x="7984155" y="5239507"/>
              <a:ext cx="1170360" cy="29880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C48C3607-7471-7C76-B5B2-51357E13EE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6155" y="5221507"/>
                <a:ext cx="12060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Håndskrift 12">
                <a:extLst>
                  <a:ext uri="{FF2B5EF4-FFF2-40B4-BE49-F238E27FC236}">
                    <a16:creationId xmlns:a16="http://schemas.microsoft.com/office/drawing/2014/main" id="{7B18F6EC-CF8D-4B38-68C5-7E6FA2BFDC18}"/>
                  </a:ext>
                </a:extLst>
              </p14:cNvPr>
              <p14:cNvContentPartPr/>
              <p14:nvPr/>
            </p14:nvContentPartPr>
            <p14:xfrm>
              <a:off x="6574153" y="3734184"/>
              <a:ext cx="527400" cy="665280"/>
            </p14:xfrm>
          </p:contentPart>
        </mc:Choice>
        <mc:Fallback xmlns="">
          <p:pic>
            <p:nvPicPr>
              <p:cNvPr id="13" name="Håndskrift 12">
                <a:extLst>
                  <a:ext uri="{FF2B5EF4-FFF2-40B4-BE49-F238E27FC236}">
                    <a16:creationId xmlns:a16="http://schemas.microsoft.com/office/drawing/2014/main" id="{7B18F6EC-CF8D-4B38-68C5-7E6FA2BFDC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6513" y="3716184"/>
                <a:ext cx="563040" cy="7009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kstfelt 13">
            <a:extLst>
              <a:ext uri="{FF2B5EF4-FFF2-40B4-BE49-F238E27FC236}">
                <a16:creationId xmlns:a16="http://schemas.microsoft.com/office/drawing/2014/main" id="{4670122E-BEE4-0C4C-6E1A-A6FC77899E48}"/>
              </a:ext>
            </a:extLst>
          </p:cNvPr>
          <p:cNvSpPr txBox="1"/>
          <p:nvPr/>
        </p:nvSpPr>
        <p:spPr>
          <a:xfrm>
            <a:off x="7984155" y="4408510"/>
            <a:ext cx="33391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0099FF"/>
                </a:solidFill>
              </a:rPr>
              <a:t>Currently looking at:</a:t>
            </a:r>
            <a:br>
              <a:rPr lang="en-US" dirty="0">
                <a:solidFill>
                  <a:srgbClr val="0099FF"/>
                </a:solidFill>
              </a:rPr>
            </a:br>
            <a:r>
              <a:rPr lang="en-US" dirty="0">
                <a:solidFill>
                  <a:srgbClr val="0099FF"/>
                </a:solidFill>
              </a:rPr>
              <a:t>Initiated the masking &amp; simulated the simple shell cavity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Håndskrift 14">
                <a:extLst>
                  <a:ext uri="{FF2B5EF4-FFF2-40B4-BE49-F238E27FC236}">
                    <a16:creationId xmlns:a16="http://schemas.microsoft.com/office/drawing/2014/main" id="{31CA17B5-5C42-8520-5FF8-8B303D08D767}"/>
                  </a:ext>
                </a:extLst>
              </p14:cNvPr>
              <p14:cNvContentPartPr/>
              <p14:nvPr/>
            </p14:nvContentPartPr>
            <p14:xfrm>
              <a:off x="6616019" y="5102671"/>
              <a:ext cx="527400" cy="665280"/>
            </p14:xfrm>
          </p:contentPart>
        </mc:Choice>
        <mc:Fallback xmlns="">
          <p:pic>
            <p:nvPicPr>
              <p:cNvPr id="15" name="Håndskrift 14">
                <a:extLst>
                  <a:ext uri="{FF2B5EF4-FFF2-40B4-BE49-F238E27FC236}">
                    <a16:creationId xmlns:a16="http://schemas.microsoft.com/office/drawing/2014/main" id="{31CA17B5-5C42-8520-5FF8-8B303D08D7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8379" y="5084671"/>
                <a:ext cx="563040" cy="700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kstfelt 15">
            <a:extLst>
              <a:ext uri="{FF2B5EF4-FFF2-40B4-BE49-F238E27FC236}">
                <a16:creationId xmlns:a16="http://schemas.microsoft.com/office/drawing/2014/main" id="{1258B218-B9DF-5844-AF1A-C964AC952800}"/>
              </a:ext>
            </a:extLst>
          </p:cNvPr>
          <p:cNvSpPr txBox="1"/>
          <p:nvPr/>
        </p:nvSpPr>
        <p:spPr>
          <a:xfrm>
            <a:off x="6556788" y="3343229"/>
            <a:ext cx="33391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To do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B1ADB907-AFE1-C1B5-FA0E-77F9ECCE0FA8}"/>
              </a:ext>
            </a:extLst>
          </p:cNvPr>
          <p:cNvSpPr txBox="1"/>
          <p:nvPr/>
        </p:nvSpPr>
        <p:spPr>
          <a:xfrm>
            <a:off x="6324684" y="4744789"/>
            <a:ext cx="33391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Soon &amp; TODO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58882E66-9875-75D0-0B1F-F180958FE992}"/>
                  </a:ext>
                </a:extLst>
              </p14:cNvPr>
              <p14:cNvContentPartPr/>
              <p14:nvPr/>
            </p14:nvContentPartPr>
            <p14:xfrm>
              <a:off x="6550796" y="1314370"/>
              <a:ext cx="618120" cy="636480"/>
            </p14:xfrm>
          </p:contentPart>
        </mc:Choice>
        <mc:Fallback xmlns=""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58882E66-9875-75D0-0B1F-F180958FE9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33156" y="1296730"/>
                <a:ext cx="65376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E75BF8F5-8520-AB95-DCC9-3BE3101D3E69}"/>
                  </a:ext>
                </a:extLst>
              </p14:cNvPr>
              <p14:cNvContentPartPr/>
              <p14:nvPr/>
            </p14:nvContentPartPr>
            <p14:xfrm>
              <a:off x="6591250" y="2353231"/>
              <a:ext cx="618120" cy="636480"/>
            </p14:xfrm>
          </p:contentPart>
        </mc:Choice>
        <mc:Fallback xmlns=""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E75BF8F5-8520-AB95-DCC9-3BE3101D3E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73610" y="2335591"/>
                <a:ext cx="653760" cy="67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168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457C-D5E7-8EF6-3386-32F32D3C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2C7C-080F-731F-7B45-C8F1B15F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94" y="373593"/>
            <a:ext cx="11784012" cy="1065742"/>
          </a:xfrm>
        </p:spPr>
        <p:txBody>
          <a:bodyPr/>
          <a:lstStyle/>
          <a:p>
            <a:r>
              <a:rPr lang="en-US" dirty="0"/>
              <a:t>Tuning &amp; benchmarking open source tools 4 </a:t>
            </a:r>
            <a:r>
              <a:rPr lang="en-US" dirty="0" err="1"/>
              <a:t>Wakis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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055C2-5A72-60AE-D69C-88303086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3825F-992F-F656-506B-C5F18404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Internship project status | WAKIS: CAD Import &amp; Smart Meshing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77CC5-4231-9C2B-FDE3-8AAE5FAF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Content Placeholder 12">
            <a:extLst>
              <a:ext uri="{FF2B5EF4-FFF2-40B4-BE49-F238E27FC236}">
                <a16:creationId xmlns:a16="http://schemas.microsoft.com/office/drawing/2014/main" id="{0BEBC060-33BA-8340-AD28-8D3E9D04D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806901"/>
              </p:ext>
            </p:extLst>
          </p:nvPr>
        </p:nvGraphicFramePr>
        <p:xfrm>
          <a:off x="551465" y="1428171"/>
          <a:ext cx="10526672" cy="421524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94188">
                  <a:extLst>
                    <a:ext uri="{9D8B030D-6E8A-4147-A177-3AD203B41FA5}">
                      <a16:colId xmlns:a16="http://schemas.microsoft.com/office/drawing/2014/main" val="1784709364"/>
                    </a:ext>
                  </a:extLst>
                </a:gridCol>
                <a:gridCol w="3386451">
                  <a:extLst>
                    <a:ext uri="{9D8B030D-6E8A-4147-A177-3AD203B41FA5}">
                      <a16:colId xmlns:a16="http://schemas.microsoft.com/office/drawing/2014/main" val="195101996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750946834"/>
                    </a:ext>
                  </a:extLst>
                </a:gridCol>
                <a:gridCol w="1957801">
                  <a:extLst>
                    <a:ext uri="{9D8B030D-6E8A-4147-A177-3AD203B41FA5}">
                      <a16:colId xmlns:a16="http://schemas.microsoft.com/office/drawing/2014/main" val="2143049330"/>
                    </a:ext>
                  </a:extLst>
                </a:gridCol>
              </a:tblGrid>
              <a:tr h="327423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 marL="91832" marR="91832" marT="45915" marB="4591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Simple cavity &amp; shell structure (as sanity check)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The ‘fingers'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6L2 device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595913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PyVista</a:t>
                      </a:r>
                      <a:r>
                        <a:rPr lang="en-US" sz="1800" dirty="0"/>
                        <a:t> 0.47.0 </a:t>
                      </a:r>
                      <a:r>
                        <a:rPr lang="en-US" sz="1800" dirty="0" err="1"/>
                        <a:t>select_interior_points</a:t>
                      </a:r>
                      <a:r>
                        <a:rPr lang="en-US" sz="1800" dirty="0"/>
                        <a:t>()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136092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PyVista</a:t>
                      </a:r>
                      <a:r>
                        <a:rPr lang="en-US" sz="1800" dirty="0"/>
                        <a:t> </a:t>
                      </a:r>
                    </a:p>
                    <a:p>
                      <a:pPr algn="l"/>
                      <a:r>
                        <a:rPr lang="en-US" sz="1800" dirty="0" err="1"/>
                        <a:t>Implicit_distance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85704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PyVista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voxelize_rectilinear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>
                        <a:highlight>
                          <a:srgbClr val="B0FF63"/>
                        </a:highlight>
                      </a:endParaRPr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15814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… on uniform &amp; </a:t>
                      </a:r>
                      <a:r>
                        <a:rPr lang="en-US" sz="1800" strike="sngStrike" dirty="0"/>
                        <a:t>smart meshing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83600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PyVista</a:t>
                      </a:r>
                      <a:r>
                        <a:rPr lang="en-US" sz="1800" dirty="0"/>
                        <a:t> decimate() for mesh cleaning</a:t>
                      </a:r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874273"/>
                  </a:ext>
                </a:extLst>
              </a:tr>
              <a:tr h="372427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sngStrike" dirty="0" err="1"/>
                        <a:t>Trimesh</a:t>
                      </a:r>
                      <a:r>
                        <a:rPr lang="en-US" sz="1800" u="none" strike="sngStrike" dirty="0"/>
                        <a:t> </a:t>
                      </a:r>
                      <a:r>
                        <a:rPr lang="en-US" sz="1800" u="none" strike="sngStrike" dirty="0" err="1"/>
                        <a:t>boolean</a:t>
                      </a:r>
                      <a:r>
                        <a:rPr lang="en-US" sz="1800" u="none" strike="sngStrike" dirty="0"/>
                        <a:t> operations</a:t>
                      </a:r>
                    </a:p>
                  </a:txBody>
                  <a:tcPr marL="91832" marR="91832" marT="45915" marB="45915"/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>
                    <a:solidFill>
                      <a:srgbClr val="71E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/>
                </a:tc>
                <a:tc>
                  <a:txBody>
                    <a:bodyPr/>
                    <a:lstStyle/>
                    <a:p>
                      <a:pPr algn="r"/>
                      <a:endParaRPr lang="en-US" sz="1800" dirty="0"/>
                    </a:p>
                  </a:txBody>
                  <a:tcPr marL="91832" marR="91832" marT="45915" marB="45915"/>
                </a:tc>
                <a:extLst>
                  <a:ext uri="{0D108BD9-81ED-4DB2-BD59-A6C34878D82A}">
                    <a16:rowId xmlns:a16="http://schemas.microsoft.com/office/drawing/2014/main" val="62395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01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3341-1CD1-31A3-962B-6829F5A2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81C9-F8D9-1555-C83D-4EB002DD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88818"/>
            <a:ext cx="11376025" cy="1065742"/>
          </a:xfrm>
        </p:spPr>
        <p:txBody>
          <a:bodyPr/>
          <a:lstStyle/>
          <a:p>
            <a:r>
              <a:rPr lang="en-GB" dirty="0"/>
              <a:t>Methods to be investigated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F73FA-EEDF-672F-9524-7ECDDB95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9C3C-3539-0F4E-8F5B-F97EBD723FC3}" type="datetime1">
              <a:rPr lang="de-CH" smtClean="0"/>
              <a:t>20.05.26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D4C04-66DB-4073-5799-75606B49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ED42B-F4E4-5A14-FA9C-3BBEBB1E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0322F3-E39E-415D-DCD8-7E393A883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1340768"/>
            <a:ext cx="11376024" cy="46985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1. New </a:t>
            </a:r>
            <a:r>
              <a:rPr lang="da-DK" b="1" i="0" u="none" strike="noStrike" dirty="0" err="1">
                <a:solidFill>
                  <a:srgbClr val="000000"/>
                </a:solidFill>
                <a:effectLst/>
              </a:rPr>
              <a:t>PyVista-based</a:t>
            </a:r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1" i="0" u="none" strike="noStrike" dirty="0" err="1">
                <a:solidFill>
                  <a:srgbClr val="000000"/>
                </a:solidFill>
                <a:effectLst/>
              </a:rPr>
              <a:t>methods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Select_interior_points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() </a:t>
            </a: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implicit_distance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voxelize_rectilinear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Testing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on uniform </a:t>
            </a:r>
            <a:r>
              <a:rPr lang="da-DK" b="0" i="0" u="none" strike="sngStrike" dirty="0">
                <a:solidFill>
                  <a:srgbClr val="000000"/>
                </a:solidFill>
                <a:effectLst/>
              </a:rPr>
              <a:t>and smart </a:t>
            </a:r>
            <a:r>
              <a:rPr lang="da-DK" b="0" i="0" u="none" strike="sngStrike" dirty="0" err="1">
                <a:solidFill>
                  <a:srgbClr val="000000"/>
                </a:solidFill>
                <a:effectLst/>
              </a:rPr>
              <a:t>meshes</a:t>
            </a:r>
            <a:endParaRPr lang="da-DK" b="0" i="0" u="none" strike="sng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1" u="none" dirty="0" err="1">
                <a:solidFill>
                  <a:srgbClr val="0070C0"/>
                </a:solidFill>
                <a:effectLst/>
              </a:rPr>
              <a:t>Implementation</a:t>
            </a:r>
            <a:r>
              <a:rPr lang="da-DK" b="0" i="1" u="none" dirty="0">
                <a:solidFill>
                  <a:srgbClr val="0070C0"/>
                </a:solidFill>
                <a:effectLst/>
              </a:rPr>
              <a:t> in </a:t>
            </a:r>
            <a:r>
              <a:rPr lang="da-DK" b="0" i="1" u="none" dirty="0" err="1">
                <a:solidFill>
                  <a:srgbClr val="0070C0"/>
                </a:solidFill>
                <a:effectLst/>
              </a:rPr>
              <a:t>Wakis</a:t>
            </a:r>
            <a:r>
              <a:rPr lang="da-DK" b="0" i="1" u="none" dirty="0">
                <a:solidFill>
                  <a:srgbClr val="0070C0"/>
                </a:solidFill>
                <a:effectLst/>
              </a:rPr>
              <a:t> &amp; </a:t>
            </a:r>
            <a:r>
              <a:rPr lang="da-DK" i="1" dirty="0">
                <a:solidFill>
                  <a:srgbClr val="0070C0"/>
                </a:solidFill>
              </a:rPr>
              <a:t>W</a:t>
            </a:r>
            <a:r>
              <a:rPr lang="da-DK" b="0" i="1" u="none" dirty="0">
                <a:solidFill>
                  <a:srgbClr val="0070C0"/>
                </a:solidFill>
                <a:effectLst/>
              </a:rPr>
              <a:t>akefield simulations with </a:t>
            </a:r>
            <a:r>
              <a:rPr lang="da-DK" b="0" i="1" u="none" dirty="0" err="1">
                <a:solidFill>
                  <a:srgbClr val="0070C0"/>
                </a:solidFill>
                <a:effectLst/>
              </a:rPr>
              <a:t>Wakis</a:t>
            </a:r>
            <a:endParaRPr lang="da-DK" b="0" i="1" u="none" dirty="0">
              <a:solidFill>
                <a:srgbClr val="0070C0"/>
              </a:solidFill>
              <a:effectLst/>
            </a:endParaRPr>
          </a:p>
          <a:p>
            <a:pPr lvl="1" indent="0">
              <a:buNone/>
            </a:pPr>
            <a:endParaRPr lang="da-DK" b="0" i="0" u="none" strike="sngStrike" dirty="0">
              <a:solidFill>
                <a:srgbClr val="000000"/>
              </a:solidFill>
              <a:effectLst/>
            </a:endParaRPr>
          </a:p>
          <a:p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2. </a:t>
            </a:r>
            <a:r>
              <a:rPr lang="da-DK" b="1" i="0" u="none" strike="noStrike" dirty="0" err="1">
                <a:solidFill>
                  <a:srgbClr val="000000"/>
                </a:solidFill>
                <a:effectLst/>
              </a:rPr>
              <a:t>Mesh</a:t>
            </a:r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1" i="0" u="none" strike="noStrike" dirty="0" err="1">
                <a:solidFill>
                  <a:srgbClr val="000000"/>
                </a:solidFill>
                <a:effectLst/>
              </a:rPr>
              <a:t>cleaning</a:t>
            </a:r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 &amp; </a:t>
            </a:r>
            <a:r>
              <a:rPr lang="da-DK" b="1" i="0" u="none" strike="noStrike" dirty="0" err="1">
                <a:solidFill>
                  <a:srgbClr val="000000"/>
                </a:solidFill>
                <a:effectLst/>
              </a:rPr>
              <a:t>simplification</a:t>
            </a:r>
            <a:r>
              <a:rPr lang="da-DK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STL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triangle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reduction</a:t>
            </a:r>
            <a:r>
              <a:rPr lang="da-DK" b="0" dirty="0">
                <a:solidFill>
                  <a:srgbClr val="000000"/>
                </a:solidFill>
              </a:rPr>
              <a:t> 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to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remove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unwanted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internal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faces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PyVista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decimation</a:t>
            </a:r>
            <a:r>
              <a:rPr lang="da-DK" dirty="0">
                <a:solidFill>
                  <a:srgbClr val="000000"/>
                </a:solidFill>
              </a:rPr>
              <a:t> 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FF0000"/>
                </a:solidFill>
                <a:effectLst/>
              </a:rPr>
              <a:t>Trimesh</a:t>
            </a:r>
            <a:r>
              <a:rPr lang="da-DK" b="0" i="0" u="none" strike="noStrike" dirty="0">
                <a:solidFill>
                  <a:srgbClr val="FF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FF0000"/>
                </a:solidFill>
                <a:effectLst/>
              </a:rPr>
              <a:t>boolean</a:t>
            </a:r>
            <a:r>
              <a:rPr lang="da-DK" b="0" i="0" u="none" strike="noStrike" dirty="0">
                <a:solidFill>
                  <a:srgbClr val="FF0000"/>
                </a:solidFill>
                <a:effectLst/>
              </a:rPr>
              <a:t> operations</a:t>
            </a:r>
          </a:p>
          <a:p>
            <a:pPr lvl="1" indent="0">
              <a:buNone/>
            </a:pPr>
            <a:endParaRPr lang="da-DK" b="0" i="0" u="none" strike="noStrike" dirty="0">
              <a:solidFill>
                <a:srgbClr val="FF0000"/>
              </a:solidFill>
              <a:effectLst/>
            </a:endParaRPr>
          </a:p>
          <a:p>
            <a:pPr algn="l"/>
            <a:r>
              <a:rPr lang="da-DK" b="1" i="0" u="none" strike="noStrike" dirty="0">
                <a:solidFill>
                  <a:srgbClr val="FF0000"/>
                </a:solidFill>
                <a:effectLst/>
              </a:rPr>
              <a:t>3. Sub-</a:t>
            </a:r>
            <a:r>
              <a:rPr lang="da-DK" b="1" i="0" u="none" strike="noStrike" dirty="0" err="1">
                <a:solidFill>
                  <a:srgbClr val="FF0000"/>
                </a:solidFill>
                <a:effectLst/>
              </a:rPr>
              <a:t>cell</a:t>
            </a:r>
            <a:r>
              <a:rPr lang="da-DK" b="1" i="0" u="none" strike="noStrike" dirty="0">
                <a:solidFill>
                  <a:srgbClr val="FF0000"/>
                </a:solidFill>
                <a:effectLst/>
              </a:rPr>
              <a:t> </a:t>
            </a:r>
            <a:r>
              <a:rPr lang="da-DK" b="1" i="0" u="none" strike="noStrike" dirty="0" err="1">
                <a:solidFill>
                  <a:srgbClr val="FF0000"/>
                </a:solidFill>
                <a:effectLst/>
              </a:rPr>
              <a:t>volume</a:t>
            </a:r>
            <a:r>
              <a:rPr lang="da-DK" b="1" i="0" u="none" strike="noStrike" dirty="0">
                <a:solidFill>
                  <a:srgbClr val="FF0000"/>
                </a:solidFill>
                <a:effectLst/>
              </a:rPr>
              <a:t> </a:t>
            </a:r>
            <a:r>
              <a:rPr lang="da-DK" b="1" i="0" u="none" strike="noStrike" dirty="0" err="1">
                <a:solidFill>
                  <a:srgbClr val="FF0000"/>
                </a:solidFill>
                <a:effectLst/>
              </a:rPr>
              <a:t>reconstruction</a:t>
            </a:r>
            <a:endParaRPr lang="da-DK" b="0" i="0" u="none" strike="noStrike" dirty="0">
              <a:solidFill>
                <a:srgbClr val="FF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solid’s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volume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fraction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per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computational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cell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990900" lvl="2" indent="-342900"/>
            <a:r>
              <a:rPr lang="da-DK" b="0" i="0" u="none" strike="noStrike" dirty="0">
                <a:solidFill>
                  <a:schemeClr val="tx2"/>
                </a:solidFill>
                <a:effectLst/>
              </a:rPr>
              <a:t>Gradient-</a:t>
            </a:r>
            <a:r>
              <a:rPr lang="da-DK" b="0" i="0" u="none" strike="noStrike" dirty="0" err="1">
                <a:solidFill>
                  <a:schemeClr val="tx2"/>
                </a:solidFill>
                <a:effectLst/>
              </a:rPr>
              <a:t>based</a:t>
            </a:r>
            <a:r>
              <a:rPr lang="da-DK" b="0" i="0" u="none" strike="noStrike" dirty="0">
                <a:solidFill>
                  <a:schemeClr val="tx2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chemeClr val="tx2"/>
                </a:solidFill>
                <a:effectLst/>
              </a:rPr>
              <a:t>surface</a:t>
            </a:r>
            <a:r>
              <a:rPr lang="da-DK" b="0" i="0" u="none" strike="noStrike" dirty="0">
                <a:solidFill>
                  <a:schemeClr val="tx2"/>
                </a:solidFill>
                <a:effectLst/>
              </a:rPr>
              <a:t> distance</a:t>
            </a:r>
          </a:p>
          <a:p>
            <a:pPr marL="666750" lvl="1" indent="-342900">
              <a:buFont typeface="Arial" panose="020B0604020202020204" pitchFamily="34" charset="0"/>
              <a:buChar char="•"/>
            </a:pP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Apply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subpixel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smoothing</a:t>
            </a:r>
            <a:r>
              <a:rPr lang="da-DK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a-DK" b="0" i="0" u="none" strike="noStrike" dirty="0" err="1">
                <a:solidFill>
                  <a:srgbClr val="000000"/>
                </a:solidFill>
                <a:effectLst/>
              </a:rPr>
              <a:t>principles</a:t>
            </a: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pPr marL="666750" lvl="1" indent="-342900">
              <a:buFont typeface="Arial" panose="020B0604020202020204" pitchFamily="34" charset="0"/>
              <a:buChar char="•"/>
            </a:pPr>
            <a:endParaRPr lang="da-DK" b="0" i="0" u="none" strike="noStrike" dirty="0">
              <a:solidFill>
                <a:srgbClr val="000000"/>
              </a:solidFill>
              <a:effectLst/>
            </a:endParaRP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1FA5A-949D-8D16-4A75-2131B0463B00}"/>
              </a:ext>
            </a:extLst>
          </p:cNvPr>
          <p:cNvSpPr/>
          <p:nvPr/>
        </p:nvSpPr>
        <p:spPr>
          <a:xfrm>
            <a:off x="983431" y="6290797"/>
            <a:ext cx="3275829" cy="5672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 anchorCtr="0"/>
          <a:lstStyle/>
          <a:p>
            <a:pPr algn="ctr">
              <a:spcBef>
                <a:spcPts val="300"/>
              </a:spcBef>
            </a:pPr>
            <a:r>
              <a:rPr lang="en-US" sz="1100" b="1" dirty="0">
                <a:solidFill>
                  <a:schemeClr val="tx1"/>
                </a:solidFill>
              </a:rPr>
              <a:t>ABP-BE-CEI, student trainee Clara R.W.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FEF7F-BF58-D1B4-41B7-D306D3046CD3}"/>
              </a:ext>
            </a:extLst>
          </p:cNvPr>
          <p:cNvSpPr/>
          <p:nvPr/>
        </p:nvSpPr>
        <p:spPr>
          <a:xfrm>
            <a:off x="4259262" y="6237312"/>
            <a:ext cx="3673475" cy="57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 anchorCtr="0"/>
          <a:lstStyle/>
          <a:p>
            <a:pPr algn="ctr">
              <a:spcBef>
                <a:spcPts val="300"/>
              </a:spcBef>
            </a:pPr>
            <a:r>
              <a:rPr lang="en-US" sz="800" dirty="0"/>
              <a:t>Project status presentation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27B81E96-B429-27F0-EF95-0E76FC12B95B}"/>
              </a:ext>
            </a:extLst>
          </p:cNvPr>
          <p:cNvSpPr txBox="1"/>
          <p:nvPr/>
        </p:nvSpPr>
        <p:spPr>
          <a:xfrm>
            <a:off x="3586993" y="3573016"/>
            <a:ext cx="641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00B050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Håndskrift 16">
                <a:extLst>
                  <a:ext uri="{FF2B5EF4-FFF2-40B4-BE49-F238E27FC236}">
                    <a16:creationId xmlns:a16="http://schemas.microsoft.com/office/drawing/2014/main" id="{4A2EE020-CD56-0B79-475E-C2BC83A1D5B3}"/>
                  </a:ext>
                </a:extLst>
              </p14:cNvPr>
              <p14:cNvContentPartPr/>
              <p14:nvPr/>
            </p14:nvContentPartPr>
            <p14:xfrm>
              <a:off x="4168633" y="1103664"/>
              <a:ext cx="618120" cy="636480"/>
            </p14:xfrm>
          </p:contentPart>
        </mc:Choice>
        <mc:Fallback xmlns="">
          <p:pic>
            <p:nvPicPr>
              <p:cNvPr id="17" name="Håndskrift 16">
                <a:extLst>
                  <a:ext uri="{FF2B5EF4-FFF2-40B4-BE49-F238E27FC236}">
                    <a16:creationId xmlns:a16="http://schemas.microsoft.com/office/drawing/2014/main" id="{4A2EE020-CD56-0B79-475E-C2BC83A1D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0993" y="1086024"/>
                <a:ext cx="65376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8BB70A7A-E08F-F897-7E2C-AED976B38AF6}"/>
                  </a:ext>
                </a:extLst>
              </p14:cNvPr>
              <p14:cNvContentPartPr/>
              <p14:nvPr/>
            </p14:nvContentPartPr>
            <p14:xfrm>
              <a:off x="10741153" y="3165384"/>
              <a:ext cx="603720" cy="590400"/>
            </p14:xfrm>
          </p:contentPart>
        </mc:Choice>
        <mc:Fallback xmlns=""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8BB70A7A-E08F-F897-7E2C-AED976B38A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23513" y="3147744"/>
                <a:ext cx="63936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D48EC6C3-2824-0DDC-1226-6E8EC7B3A8D7}"/>
                  </a:ext>
                </a:extLst>
              </p14:cNvPr>
              <p14:cNvContentPartPr/>
              <p14:nvPr/>
            </p14:nvContentPartPr>
            <p14:xfrm>
              <a:off x="4629433" y="4664784"/>
              <a:ext cx="349200" cy="30420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D48EC6C3-2824-0DDC-1226-6E8EC7B3A8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1793" y="4647144"/>
                <a:ext cx="3848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Håndskrift 21">
                <a:extLst>
                  <a:ext uri="{FF2B5EF4-FFF2-40B4-BE49-F238E27FC236}">
                    <a16:creationId xmlns:a16="http://schemas.microsoft.com/office/drawing/2014/main" id="{2C9CD3D3-EA3C-AF89-6362-E484FB6EF692}"/>
                  </a:ext>
                </a:extLst>
              </p14:cNvPr>
              <p14:cNvContentPartPr/>
              <p14:nvPr/>
            </p14:nvContentPartPr>
            <p14:xfrm>
              <a:off x="7169953" y="2823024"/>
              <a:ext cx="565200" cy="207360"/>
            </p14:xfrm>
          </p:contentPart>
        </mc:Choice>
        <mc:Fallback xmlns="">
          <p:pic>
            <p:nvPicPr>
              <p:cNvPr id="22" name="Håndskrift 21">
                <a:extLst>
                  <a:ext uri="{FF2B5EF4-FFF2-40B4-BE49-F238E27FC236}">
                    <a16:creationId xmlns:a16="http://schemas.microsoft.com/office/drawing/2014/main" id="{2C9CD3D3-EA3C-AF89-6362-E484FB6EF6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52313" y="2805384"/>
                <a:ext cx="600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Håndskrift 23">
                <a:extLst>
                  <a:ext uri="{FF2B5EF4-FFF2-40B4-BE49-F238E27FC236}">
                    <a16:creationId xmlns:a16="http://schemas.microsoft.com/office/drawing/2014/main" id="{859EB1FE-4F34-0F87-23F8-37820CCFD026}"/>
                  </a:ext>
                </a:extLst>
              </p14:cNvPr>
              <p14:cNvContentPartPr/>
              <p14:nvPr/>
            </p14:nvContentPartPr>
            <p14:xfrm>
              <a:off x="5407033" y="4711944"/>
              <a:ext cx="618480" cy="187200"/>
            </p14:xfrm>
          </p:contentPart>
        </mc:Choice>
        <mc:Fallback xmlns="">
          <p:pic>
            <p:nvPicPr>
              <p:cNvPr id="24" name="Håndskrift 23">
                <a:extLst>
                  <a:ext uri="{FF2B5EF4-FFF2-40B4-BE49-F238E27FC236}">
                    <a16:creationId xmlns:a16="http://schemas.microsoft.com/office/drawing/2014/main" id="{859EB1FE-4F34-0F87-23F8-37820CCFD0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89393" y="4693944"/>
                <a:ext cx="6541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594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6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CERN">
      <a:dk1>
        <a:srgbClr val="0033A0"/>
      </a:dk1>
      <a:lt1>
        <a:srgbClr val="FFFFFF"/>
      </a:lt1>
      <a:dk2>
        <a:srgbClr val="2F2F2F"/>
      </a:dk2>
      <a:lt2>
        <a:srgbClr val="F8F8F8"/>
      </a:lt2>
      <a:accent1>
        <a:srgbClr val="0033A0"/>
      </a:accent1>
      <a:accent2>
        <a:srgbClr val="61C4D3"/>
      </a:accent2>
      <a:accent3>
        <a:srgbClr val="E15E32"/>
      </a:accent3>
      <a:accent4>
        <a:srgbClr val="BEBECB"/>
      </a:accent4>
      <a:accent5>
        <a:srgbClr val="6E2466"/>
      </a:accent5>
      <a:accent6>
        <a:srgbClr val="1C446A"/>
      </a:accent6>
      <a:hlink>
        <a:srgbClr val="6D2466"/>
      </a:hlink>
      <a:folHlink>
        <a:srgbClr val="61C4D3"/>
      </a:folHlink>
    </a:clrScheme>
    <a:fontScheme name="CER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ERN Cobranding_16x9 PPT_v2024.pptx" id="{DFBC6625-1CCB-9E43-8DAE-BEFAD74E24A0}" vid="{9CD4E85F-30DA-2443-B3AE-B766ED3BC7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2440</TotalTime>
  <Words>1433</Words>
  <Application>Microsoft Macintosh PowerPoint</Application>
  <PresentationFormat>Widescreen</PresentationFormat>
  <Paragraphs>182</Paragraphs>
  <Slides>20</Slides>
  <Notes>6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20</vt:i4>
      </vt:variant>
    </vt:vector>
  </HeadingPairs>
  <TitlesOfParts>
    <vt:vector size="26" baseType="lpstr">
      <vt:lpstr>-webkit-standard</vt:lpstr>
      <vt:lpstr>Arial</vt:lpstr>
      <vt:lpstr>Calibri</vt:lpstr>
      <vt:lpstr>Helvetica</vt:lpstr>
      <vt:lpstr>Wingdings</vt:lpstr>
      <vt:lpstr>Office-tema</vt:lpstr>
      <vt:lpstr>Internship project Status W12: CAD Import &amp; meshing in Wakis </vt:lpstr>
      <vt:lpstr>Outline </vt:lpstr>
      <vt:lpstr>Benchmark shell: mask volume</vt:lpstr>
      <vt:lpstr>Benchmark: 6L2 sub-objects (added N=225,250 grid resolutions)</vt:lpstr>
      <vt:lpstr>Benchmark: 6L2 sub-objects (high grid resolutions added; till N=450 ~ 91e6 grid points )</vt:lpstr>
      <vt:lpstr>Simulation benchmarks to CST &amp; the current Wakis version 0.7.0 :                                              The simple shell cavity</vt:lpstr>
      <vt:lpstr>Comparing the mask slices from these simulations</vt:lpstr>
      <vt:lpstr>PowerPoint-præsentation</vt:lpstr>
      <vt:lpstr>STL Decimation benchmark: how reducing the STL structure, and hereby computation time, influence the mask quality</vt:lpstr>
      <vt:lpstr>Decimate_pro(0.80): reducing 80% of STL cells </vt:lpstr>
      <vt:lpstr>Benchmarked to the 6L2 mask volume results (slide 5):  findings= decimate 80 does not seem to reduce quality of the voxelize_rectilinear meshing method</vt:lpstr>
      <vt:lpstr>Scaling times of the meshing algorithms with grid resolution (&amp; STL size) </vt:lpstr>
      <vt:lpstr>Scaling times with 80% less STL triangles (in each of the 6L2 objects)</vt:lpstr>
      <vt:lpstr>To do</vt:lpstr>
      <vt:lpstr>The Pyvista methods (repetition)</vt:lpstr>
      <vt:lpstr>PowerPoint-præsentation</vt:lpstr>
      <vt:lpstr>Project goals (for overview) </vt:lpstr>
      <vt:lpstr>Tuning &amp; benchmarking open source tools 4 Wakis </vt:lpstr>
      <vt:lpstr>Methods to be investigated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Clara Ruby Wimmelmann</dc:creator>
  <cp:lastModifiedBy>Clara Ruby Wimmelmann</cp:lastModifiedBy>
  <cp:revision>315</cp:revision>
  <cp:lastPrinted>2026-04-22T12:02:32Z</cp:lastPrinted>
  <dcterms:created xsi:type="dcterms:W3CDTF">2026-02-16T10:04:01Z</dcterms:created>
  <dcterms:modified xsi:type="dcterms:W3CDTF">2026-05-20T10:00:02Z</dcterms:modified>
</cp:coreProperties>
</file>